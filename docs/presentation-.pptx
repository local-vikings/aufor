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58" r:id="rId5"/>
    <p:sldId id="266" r:id="rId6"/>
    <p:sldId id="262" r:id="rId7"/>
    <p:sldId id="265" r:id="rId8"/>
    <p:sldId id="268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4472C4"/>
    <a:srgbClr val="1A678E"/>
    <a:srgbClr val="1D1D77"/>
    <a:srgbClr val="8161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5E832-95F3-444B-B18E-C28649DD59F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BD96C-81B5-427A-8857-C5795ACAE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0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BD96C-81B5-427A-8857-C5795ACAE2E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80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FF80-417E-1941-40D5-78262C10B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B376D-AE00-8A8B-8618-C0C71042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9DC34-3A9C-79B4-3BB3-430AE540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BE75C-C1AC-B506-AE6E-4707D88C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2CCA-B304-D68A-8CE3-110F7EA3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2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FCCB-3132-943B-7C7E-09748B4D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DB13-EF9E-8DC3-E3D4-8B84E6A2C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81955-CF7C-9BE1-28B5-3F5624A8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B7B29-EC90-4FF9-EEAE-AB9B7428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D4793-07E6-D23B-6B04-FADDA1A4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C9CD-32A4-F842-2011-F107CA52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A7579-F1CD-F03E-6B81-82D00D0B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84874-A870-B0B6-9DD2-4448D61B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25A9D-F49C-7106-269D-97CEC2A2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445EF-DDEB-E603-233A-F61E390C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3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B295-7C13-257A-7202-1532E2DA6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2F29-9AE6-F4D2-6C88-9D0EA89EF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D3A2A-BC86-A722-434B-5BA01A6FD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F54EE-0837-E5A2-19CA-42339F71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9718E-C61C-027F-72B0-E6EA21BF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BC20C-590F-88BB-B773-2582DE27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1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AC71-B873-3395-37E1-F9D8C242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A77F1-0AD8-B90A-1254-B4918A791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1A9FB-B61D-7F3F-5604-5A08FC50B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F395F-2AE3-F8CD-1205-779E284A0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A56FF-8468-B379-851E-EF9DA0F24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8A51B-1260-5AB0-A0C1-4A219C3D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640ED-203B-8CE9-EB1F-653E0CE7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493CB-863B-296C-D682-DBE71B1A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9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3931A-DC9B-6A5E-4228-F051A0C8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0FAF3-E5C4-CBC4-8FDD-C5243BD1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8144B-4ADD-C9D3-3366-B8220AE1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84AF6-2810-2958-B41C-D688E89D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2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814AB9-90FC-E090-59B9-8191A8EA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38209-1695-121A-C12B-054F4CEE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B9606-2BAA-EEF4-74FE-34E60F73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4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8F37-9681-12D5-7C58-7C19C9ED6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7B120-BE5C-CC6C-AEEC-8E070F498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36320-0715-627B-508D-1DC2FAA6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843FA-3FFF-8955-7F33-C961FCB3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C28BE-2F57-CFCF-70B5-8B991A80B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CDA1C-576A-B432-F260-E8EBA674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7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276A-62D3-CF49-959D-963AF509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B076E-3663-9224-9269-BEE9DE3FFC0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3107F-04C2-8EDF-D1E6-B802C6E8B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83BB5-CE29-C0D9-A0BC-35946393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D558A-08A8-1DEE-5622-9C5E6064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20FAA-2568-E4CA-23F8-ACBD7CE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2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D656-325B-795B-9D6D-1318CA69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178C1-6E01-4E00-C8E7-69AB2FABA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64CAC-3187-D309-38BA-440F62F72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BC809-E1D6-0E06-B032-6D49D3C4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E50EC-A474-55BF-0ECF-6B661C01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1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30A36-E667-4206-4B59-4D49B31CF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D74D1-C7B3-B5B7-8D05-327996E6F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6B3F-1165-D7CF-DB06-7E601D77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65A41-C89A-EDEE-EA3A-A8301BFD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D5031-7C09-AA1E-7CB8-CC0EE0F6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7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3E573C-74F2-CB72-F7CE-C046906C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B593D-170D-2ABF-9395-0107B2B27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8ED68-316B-C89C-4CBE-EE9DD985E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4D5FF-99F5-4670-B28F-5A617BFA2BE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48388-3873-4A45-1087-45157045B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E0FF7-39D1-20F6-B1C2-015DE593B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8392D-156E-455F-86D6-1FF23992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9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olar_0001-0250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330754A5-EC1B-4F89-6AB1-F8E15E31A83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7BF2B8-B584-4FBD-9079-22589AE3F6EC}"/>
              </a:ext>
            </a:extLst>
          </p:cNvPr>
          <p:cNvSpPr txBox="1"/>
          <p:nvPr/>
        </p:nvSpPr>
        <p:spPr>
          <a:xfrm>
            <a:off x="665825" y="3551295"/>
            <a:ext cx="50957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 err="1">
                <a:latin typeface="Arial Black" panose="020B0A04020102020204" pitchFamily="34" charset="0"/>
              </a:rPr>
              <a:t>AuFor</a:t>
            </a:r>
            <a:endParaRPr lang="en-US" sz="115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9D0CE-D1FD-9BA3-2C21-236AAD4FDB35}"/>
              </a:ext>
            </a:extLst>
          </p:cNvPr>
          <p:cNvSpPr txBox="1"/>
          <p:nvPr/>
        </p:nvSpPr>
        <p:spPr>
          <a:xfrm>
            <a:off x="663210" y="5013233"/>
            <a:ext cx="25505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Made by: Local Vikings</a:t>
            </a:r>
          </a:p>
        </p:txBody>
      </p:sp>
    </p:spTree>
    <p:extLst>
      <p:ext uri="{BB962C8B-B14F-4D97-AF65-F5344CB8AC3E}">
        <p14:creationId xmlns:p14="http://schemas.microsoft.com/office/powerpoint/2010/main" val="88988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33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BFE505-5A07-F5DD-DA79-8E96864B1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10713298-9739-6EEC-857A-D0F9768CA88D}"/>
              </a:ext>
            </a:extLst>
          </p:cNvPr>
          <p:cNvSpPr/>
          <p:nvPr/>
        </p:nvSpPr>
        <p:spPr>
          <a:xfrm flipV="1">
            <a:off x="3711676" y="0"/>
            <a:ext cx="28380813" cy="6858000"/>
          </a:xfrm>
          <a:prstGeom prst="parallelogram">
            <a:avLst>
              <a:gd name="adj" fmla="val 37781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E38578-8E65-FF56-670C-86EF7A3F15F4}"/>
              </a:ext>
            </a:extLst>
          </p:cNvPr>
          <p:cNvSpPr/>
          <p:nvPr/>
        </p:nvSpPr>
        <p:spPr>
          <a:xfrm>
            <a:off x="12192000" y="-4041059"/>
            <a:ext cx="20982037" cy="136570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F03CA4-A90A-8651-83A4-5EB09DB9AC13}"/>
              </a:ext>
            </a:extLst>
          </p:cNvPr>
          <p:cNvSpPr txBox="1"/>
          <p:nvPr/>
        </p:nvSpPr>
        <p:spPr>
          <a:xfrm>
            <a:off x="5977706" y="1720841"/>
            <a:ext cx="56086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fontAlgn="base">
              <a:lnSpc>
                <a:spcPct val="100000"/>
              </a:lnSpc>
            </a:pP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AuFor</a:t>
            </a:r>
            <a:r>
              <a:rPr lang="bg-BG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е</a:t>
            </a:r>
            <a:r>
              <a:rPr lang="bg-BG" sz="2400" dirty="0">
                <a:solidFill>
                  <a:schemeClr val="bg1"/>
                </a:solidFill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проект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за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прогнозиране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и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оптимизиране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на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слънчевата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енергия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,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който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помага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да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се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предвиди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производството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на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енергия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и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да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се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реши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кога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да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се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използва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,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съхранява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или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изнася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.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Той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съчетава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метеорологични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данни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,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соларна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физика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и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симулация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на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батерия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,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за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да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предоставя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точни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прогнози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и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практични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препоръки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.</a:t>
            </a:r>
            <a:endParaRPr lang="en-US" sz="1600" b="0" i="0" dirty="0">
              <a:solidFill>
                <a:schemeClr val="bg1"/>
              </a:solidFill>
              <a:effectLst/>
              <a:latin typeface="inheri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6E97D3-0F8A-4F20-B2C3-85DE08A0DD20}"/>
              </a:ext>
            </a:extLst>
          </p:cNvPr>
          <p:cNvSpPr txBox="1"/>
          <p:nvPr/>
        </p:nvSpPr>
        <p:spPr>
          <a:xfrm>
            <a:off x="5372100" y="475700"/>
            <a:ext cx="6819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400" b="1" dirty="0">
                <a:solidFill>
                  <a:schemeClr val="bg1"/>
                </a:solidFill>
              </a:rPr>
              <a:t>Какво представлява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490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AAD62-7787-ABC4-B099-F38B1F25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71C5019-BAA5-1AFC-F4D1-E0D562DDFAB4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534D3C4B-383E-7D9F-7AA2-172B53958824}"/>
              </a:ext>
            </a:extLst>
          </p:cNvPr>
          <p:cNvSpPr>
            <a:spLocks noGrp="1"/>
          </p:cNvSpPr>
          <p:nvPr/>
        </p:nvSpPr>
        <p:spPr>
          <a:xfrm>
            <a:off x="917940" y="710424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600" b="0" u="none" strike="noStrike" kern="1200">
                <a:solidFill>
                  <a:schemeClr val="lt1"/>
                </a:solidFill>
                <a:effectLst/>
                <a:uFillTx/>
                <a:latin typeface="IBM Plex Sans"/>
                <a:ea typeface="+mj-ea"/>
                <a:cs typeface="+mj-cs"/>
              </a:defRPr>
            </a:lvl1pPr>
          </a:lstStyle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4400" b="1" u="none" strike="noStrike" dirty="0" err="1">
                <a:solidFill>
                  <a:srgbClr val="F4F1EA"/>
                </a:solidFill>
                <a:effectLst/>
                <a:uFillTx/>
                <a:latin typeface="+mn-lt"/>
                <a:ea typeface="Manrope"/>
              </a:rPr>
              <a:t>Защо</a:t>
            </a:r>
            <a:r>
              <a:rPr lang="en-US" sz="4400" b="1" u="none" strike="noStrike" dirty="0">
                <a:solidFill>
                  <a:srgbClr val="F4F1EA"/>
                </a:solidFill>
                <a:effectLst/>
                <a:uFillTx/>
                <a:latin typeface="+mn-lt"/>
                <a:ea typeface="Manrope"/>
              </a:rPr>
              <a:t> Python </a:t>
            </a:r>
            <a:r>
              <a:rPr lang="en-US" sz="4400" b="1" u="none" strike="noStrike" dirty="0" err="1">
                <a:solidFill>
                  <a:srgbClr val="F4F1EA"/>
                </a:solidFill>
                <a:effectLst/>
                <a:uFillTx/>
                <a:latin typeface="+mn-lt"/>
                <a:ea typeface="Manrope"/>
              </a:rPr>
              <a:t>за</a:t>
            </a:r>
            <a:r>
              <a:rPr lang="en-US" sz="4400" b="1" u="none" strike="noStrike" dirty="0">
                <a:solidFill>
                  <a:srgbClr val="F4F1EA"/>
                </a:solidFill>
                <a:effectLst/>
                <a:uFillTx/>
                <a:latin typeface="+mn-lt"/>
                <a:ea typeface="Manrope"/>
              </a:rPr>
              <a:t> </a:t>
            </a:r>
            <a:r>
              <a:rPr lang="en-US" sz="4400" b="1" u="none" strike="noStrike" dirty="0" err="1">
                <a:solidFill>
                  <a:srgbClr val="F4F1EA"/>
                </a:solidFill>
                <a:effectLst/>
                <a:uFillTx/>
                <a:latin typeface="+mn-lt"/>
                <a:ea typeface="Manrope"/>
              </a:rPr>
              <a:t>сървъра</a:t>
            </a:r>
            <a:endParaRPr lang="en-GB" sz="4400" b="0" u="none" strike="noStrike" dirty="0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8D4042E-AA0C-6B72-DA93-5209A0389E93}"/>
              </a:ext>
            </a:extLst>
          </p:cNvPr>
          <p:cNvSpPr/>
          <p:nvPr/>
        </p:nvSpPr>
        <p:spPr>
          <a:xfrm>
            <a:off x="1078500" y="2654892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FDD1DB7-79F1-DA3A-733F-EB1080EC0C24}"/>
              </a:ext>
            </a:extLst>
          </p:cNvPr>
          <p:cNvSpPr/>
          <p:nvPr/>
        </p:nvSpPr>
        <p:spPr>
          <a:xfrm>
            <a:off x="1243740" y="2655252"/>
            <a:ext cx="452556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Готови</a:t>
            </a:r>
            <a:r>
              <a:rPr lang="en-US" sz="1600" b="1" u="none" strike="noStrike" dirty="0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600" b="1" u="none" strike="noStrike" dirty="0" err="1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библиотеки</a:t>
            </a:r>
            <a:endParaRPr lang="en-GB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44ACB48-2DB6-9C19-53B0-E8DAEE93356A}"/>
              </a:ext>
            </a:extLst>
          </p:cNvPr>
          <p:cNvSpPr/>
          <p:nvPr/>
        </p:nvSpPr>
        <p:spPr>
          <a:xfrm>
            <a:off x="1243740" y="2924532"/>
            <a:ext cx="452556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pvlib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,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numpy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 и pandas: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слънчевата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физика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 и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проверките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не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се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пишат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от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нулата</a:t>
            </a: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4065E0F-88F4-923C-3AA8-ECF8D76CFA16}"/>
              </a:ext>
            </a:extLst>
          </p:cNvPr>
          <p:cNvSpPr/>
          <p:nvPr/>
        </p:nvSpPr>
        <p:spPr>
          <a:xfrm>
            <a:off x="1078500" y="3513492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2536601-9A60-B38F-455D-BC2CC32E8A95}"/>
              </a:ext>
            </a:extLst>
          </p:cNvPr>
          <p:cNvSpPr/>
          <p:nvPr/>
        </p:nvSpPr>
        <p:spPr>
          <a:xfrm>
            <a:off x="1243740" y="3513852"/>
            <a:ext cx="452556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FastAPI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D98DC76-EC8B-0D34-CFF2-2F9A225350C8}"/>
              </a:ext>
            </a:extLst>
          </p:cNvPr>
          <p:cNvSpPr/>
          <p:nvPr/>
        </p:nvSpPr>
        <p:spPr>
          <a:xfrm>
            <a:off x="1243740" y="3782772"/>
            <a:ext cx="452556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Бърз API, автоматична проверка на входните данни и документация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8731C77-7678-2724-B48D-89DF0A1401AF}"/>
              </a:ext>
            </a:extLst>
          </p:cNvPr>
          <p:cNvSpPr/>
          <p:nvPr/>
        </p:nvSpPr>
        <p:spPr>
          <a:xfrm>
            <a:off x="1078500" y="4372092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BA7AFCA-5879-BBB0-4541-D348AC846CC4}"/>
              </a:ext>
            </a:extLst>
          </p:cNvPr>
          <p:cNvSpPr/>
          <p:nvPr/>
        </p:nvSpPr>
        <p:spPr>
          <a:xfrm>
            <a:off x="1243740" y="4372092"/>
            <a:ext cx="452556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Имплеметация на C++ кода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768F309-B0F2-E690-0376-586B9CF2CD62}"/>
              </a:ext>
            </a:extLst>
          </p:cNvPr>
          <p:cNvSpPr/>
          <p:nvPr/>
        </p:nvSpPr>
        <p:spPr>
          <a:xfrm>
            <a:off x="1243740" y="4641372"/>
            <a:ext cx="452556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Тежката математика е в C++ ядрото на Свет; Python само го извиква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90C61868-8F5F-794B-49FE-444DE945A37F}"/>
              </a:ext>
            </a:extLst>
          </p:cNvPr>
          <p:cNvSpPr/>
          <p:nvPr/>
        </p:nvSpPr>
        <p:spPr>
          <a:xfrm>
            <a:off x="6422702" y="2654892"/>
            <a:ext cx="4851864" cy="2170080"/>
          </a:xfrm>
          <a:prstGeom prst="roundRect">
            <a:avLst>
              <a:gd name="adj" fmla="val 4535"/>
            </a:avLst>
          </a:prstGeom>
          <a:solidFill>
            <a:srgbClr val="17263D"/>
          </a:solidFill>
          <a:ln w="6350">
            <a:solidFill>
              <a:srgbClr val="2A3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3040" tIns="203040" rIns="47880" bIns="17748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2B544"/>
                </a:solidFill>
                <a:effectLst/>
                <a:uFillTx/>
                <a:latin typeface="IBM Plex Mono"/>
                <a:ea typeface="IBM Plex Mono"/>
              </a:rPr>
              <a:t>@router.post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("/forecast")</a:t>
            </a: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7FB4F5"/>
                </a:solidFill>
                <a:effectLst/>
                <a:uFillTx/>
                <a:latin typeface="IBM Plex Mono"/>
                <a:ea typeface="IBM Plex Mono"/>
              </a:rPr>
              <a:t>def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 forecast(req):</a:t>
            </a: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weather =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fetch_weather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(req)</a:t>
            </a: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pr =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calibration.load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(key).pr</a:t>
            </a: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result =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build_forecast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(req, weather, pr)</a:t>
            </a: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state = </a:t>
            </a:r>
            <a:r>
              <a:rPr lang="en-US" sz="1200" b="0" u="none" strike="noStrike" dirty="0" err="1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calibration.update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(key, result)</a:t>
            </a: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</a:t>
            </a:r>
            <a:r>
              <a:rPr lang="en-US" sz="1200" b="0" u="none" strike="noStrike" dirty="0">
                <a:solidFill>
                  <a:srgbClr val="7FB4F5"/>
                </a:solidFill>
                <a:effectLst/>
                <a:uFillTx/>
                <a:latin typeface="IBM Plex Mono"/>
                <a:ea typeface="IBM Plex Mono"/>
              </a:rPr>
              <a:t>return</a:t>
            </a:r>
            <a:r>
              <a:rPr lang="en-US" sz="1200" b="0" u="none" strike="noStrike" dirty="0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 response(result, state)</a:t>
            </a: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08F795A7-760D-8158-B38E-4E35079086B8}"/>
              </a:ext>
            </a:extLst>
          </p:cNvPr>
          <p:cNvSpPr/>
          <p:nvPr/>
        </p:nvSpPr>
        <p:spPr>
          <a:xfrm>
            <a:off x="6692070" y="4814532"/>
            <a:ext cx="5807520" cy="23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81"/>
              </a:lnSpc>
              <a:tabLst>
                <a:tab pos="0" algn="l"/>
              </a:tabLst>
            </a:pPr>
            <a:endParaRPr lang="en-GB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386485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751D3E0-9D70-9F5F-6274-E68B7E0889F2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PlaceHolder 1">
            <a:extLst>
              <a:ext uri="{FF2B5EF4-FFF2-40B4-BE49-F238E27FC236}">
                <a16:creationId xmlns:a16="http://schemas.microsoft.com/office/drawing/2014/main" id="{A8253897-5FCE-E4D6-10AD-AA10F8DC6CC2}"/>
              </a:ext>
            </a:extLst>
          </p:cNvPr>
          <p:cNvSpPr>
            <a:spLocks noGrp="1"/>
          </p:cNvSpPr>
          <p:nvPr/>
        </p:nvSpPr>
        <p:spPr>
          <a:xfrm>
            <a:off x="828156" y="992700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600" b="0" u="none" strike="noStrike" kern="1200">
                <a:solidFill>
                  <a:schemeClr val="lt1"/>
                </a:solidFill>
                <a:effectLst/>
                <a:uFillTx/>
                <a:latin typeface="IBM Plex Sans"/>
                <a:ea typeface="+mj-ea"/>
                <a:cs typeface="+mj-cs"/>
              </a:defRPr>
            </a:lvl1pPr>
          </a:lstStyle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4400" b="1" u="none" strike="noStrike" dirty="0" err="1">
                <a:solidFill>
                  <a:schemeClr val="bg1"/>
                </a:solidFill>
                <a:effectLst/>
                <a:uFillTx/>
                <a:latin typeface="Manrope"/>
                <a:ea typeface="Manrope"/>
              </a:rPr>
              <a:t>Ка</a:t>
            </a:r>
            <a:r>
              <a:rPr lang="bg-BG" sz="4400" b="1" u="none" strike="noStrike" dirty="0">
                <a:solidFill>
                  <a:schemeClr val="bg1"/>
                </a:solidFill>
                <a:effectLst/>
                <a:uFillTx/>
                <a:latin typeface="Manrope"/>
                <a:ea typeface="Manrope"/>
              </a:rPr>
              <a:t>к създадохме</a:t>
            </a:r>
            <a:r>
              <a:rPr lang="en-US" sz="4400" b="1" u="none" strike="noStrike" dirty="0">
                <a:solidFill>
                  <a:schemeClr val="bg1"/>
                </a:solidFill>
                <a:effectLst/>
                <a:uFillTx/>
                <a:latin typeface="Manrope"/>
                <a:ea typeface="Manrope"/>
              </a:rPr>
              <a:t> Backend</a:t>
            </a:r>
            <a:endParaRPr lang="en-GB" sz="4400" b="0" u="none" strike="noStrike" dirty="0">
              <a:solidFill>
                <a:schemeClr val="bg1"/>
              </a:solidFill>
              <a:effectLst/>
              <a:uFillTx/>
              <a:latin typeface="IBM Plex Sans"/>
            </a:endParaRP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6ECF82A5-890A-B8AB-41D6-6B29C1E48F6E}"/>
              </a:ext>
            </a:extLst>
          </p:cNvPr>
          <p:cNvSpPr/>
          <p:nvPr/>
        </p:nvSpPr>
        <p:spPr>
          <a:xfrm>
            <a:off x="745860" y="2451870"/>
            <a:ext cx="360" cy="68076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D4216D58-B902-DDA5-DD4E-EC0AE9E1C7C4}"/>
              </a:ext>
            </a:extLst>
          </p:cNvPr>
          <p:cNvSpPr/>
          <p:nvPr/>
        </p:nvSpPr>
        <p:spPr>
          <a:xfrm>
            <a:off x="911100" y="2452230"/>
            <a:ext cx="40024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FastAPI</a:t>
            </a:r>
            <a:r>
              <a:rPr lang="en-US" sz="1600" b="1" u="none" strike="noStrike" dirty="0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600" b="1" u="none" strike="noStrike" dirty="0" err="1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сървър</a:t>
            </a:r>
            <a:endParaRPr lang="en-GB" sz="16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02CD7105-8E14-B20C-38CD-0C261F70434B}"/>
              </a:ext>
            </a:extLst>
          </p:cNvPr>
          <p:cNvSpPr/>
          <p:nvPr/>
        </p:nvSpPr>
        <p:spPr>
          <a:xfrm>
            <a:off x="911100" y="2721510"/>
            <a:ext cx="4002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API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за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прогноза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,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показания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,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облачна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карта</a:t>
            </a:r>
            <a:endParaRPr lang="en-GB" sz="1200" b="0" u="none" strike="noStrike" dirty="0">
              <a:solidFill>
                <a:schemeClr val="tx2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44FA8C8A-C282-F9DB-87D2-10F7EEE1F3EF}"/>
              </a:ext>
            </a:extLst>
          </p:cNvPr>
          <p:cNvSpPr/>
          <p:nvPr/>
        </p:nvSpPr>
        <p:spPr>
          <a:xfrm>
            <a:off x="745860" y="3285270"/>
            <a:ext cx="360" cy="68040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82F70D28-1F8F-7F3C-4897-CE20BD1CC04A}"/>
              </a:ext>
            </a:extLst>
          </p:cNvPr>
          <p:cNvSpPr/>
          <p:nvPr/>
        </p:nvSpPr>
        <p:spPr>
          <a:xfrm>
            <a:off x="911100" y="3285270"/>
            <a:ext cx="40024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Прогнозен pipeline</a:t>
            </a:r>
            <a:endParaRPr lang="en-GB" sz="1600" b="0" u="none" strike="noStrike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679C1B52-8842-0526-41C8-24CFD699C089}"/>
              </a:ext>
            </a:extLst>
          </p:cNvPr>
          <p:cNvSpPr/>
          <p:nvPr/>
        </p:nvSpPr>
        <p:spPr>
          <a:xfrm>
            <a:off x="911100" y="3554550"/>
            <a:ext cx="4002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Време към prediction физика (C++) към симулация на батерия и от това съвети, в една заявка</a:t>
            </a:r>
            <a:endParaRPr lang="en-GB" sz="1200" b="0" u="none" strike="noStrike">
              <a:solidFill>
                <a:schemeClr val="tx2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D604C4DF-BA92-2FBF-F2DF-9C5434128CF9}"/>
              </a:ext>
            </a:extLst>
          </p:cNvPr>
          <p:cNvSpPr/>
          <p:nvPr/>
        </p:nvSpPr>
        <p:spPr>
          <a:xfrm>
            <a:off x="745860" y="4118310"/>
            <a:ext cx="360" cy="68076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F60DAD2D-51E4-DCED-74AE-8F235ED7674A}"/>
              </a:ext>
            </a:extLst>
          </p:cNvPr>
          <p:cNvSpPr/>
          <p:nvPr/>
        </p:nvSpPr>
        <p:spPr>
          <a:xfrm>
            <a:off x="911100" y="4118310"/>
            <a:ext cx="40024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Симулации</a:t>
            </a:r>
            <a:endParaRPr lang="en-GB" sz="1600" b="0" u="none" strike="noStrike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E9F1A030-38E9-B73A-2EF7-B548F95A624C}"/>
              </a:ext>
            </a:extLst>
          </p:cNvPr>
          <p:cNvSpPr/>
          <p:nvPr/>
        </p:nvSpPr>
        <p:spPr>
          <a:xfrm>
            <a:off x="911100" y="4387590"/>
            <a:ext cx="4002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Батерия час по час; симулирани показания за демото, винаги с етикет</a:t>
            </a:r>
            <a:endParaRPr lang="en-GB" sz="1200" b="0" u="none" strike="noStrike">
              <a:solidFill>
                <a:schemeClr val="tx2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D428DCBF-E751-0969-21BE-DF5E484EB224}"/>
              </a:ext>
            </a:extLst>
          </p:cNvPr>
          <p:cNvSpPr/>
          <p:nvPr/>
        </p:nvSpPr>
        <p:spPr>
          <a:xfrm>
            <a:off x="745860" y="4951350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A9419CBB-7F4E-3BFE-BEEE-45885DE50281}"/>
              </a:ext>
            </a:extLst>
          </p:cNvPr>
          <p:cNvSpPr/>
          <p:nvPr/>
        </p:nvSpPr>
        <p:spPr>
          <a:xfrm>
            <a:off x="911100" y="4951350"/>
            <a:ext cx="40024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Калибриране</a:t>
            </a:r>
            <a:endParaRPr lang="en-GB" sz="1600" b="0" u="none" strike="noStrike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59EFF9B5-C0C6-21F3-6480-ECB3B74B9C8E}"/>
              </a:ext>
            </a:extLst>
          </p:cNvPr>
          <p:cNvSpPr/>
          <p:nvPr/>
        </p:nvSpPr>
        <p:spPr>
          <a:xfrm>
            <a:off x="911100" y="5220630"/>
            <a:ext cx="4002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Реални данни от сензори и камера правят прогнозата по-точна</a:t>
            </a:r>
            <a:endParaRPr lang="en-GB" sz="1200" b="0" u="none" strike="noStrike">
              <a:solidFill>
                <a:schemeClr val="tx2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84E80C52-34E2-7483-A950-1124B256A358}"/>
              </a:ext>
            </a:extLst>
          </p:cNvPr>
          <p:cNvSpPr/>
          <p:nvPr/>
        </p:nvSpPr>
        <p:spPr>
          <a:xfrm>
            <a:off x="5672748" y="2334744"/>
            <a:ext cx="5773392" cy="3558273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Image 0" descr="Схема на AuFor: входни данни, сървърът с pipeline, батерия, съвети и калибриране, и какво вижда потребителят">
            <a:extLst>
              <a:ext uri="{FF2B5EF4-FFF2-40B4-BE49-F238E27FC236}">
                <a16:creationId xmlns:a16="http://schemas.microsoft.com/office/drawing/2014/main" id="{456516F6-E63B-7BCA-97B2-A706E70340DD}"/>
              </a:ext>
            </a:extLst>
          </p:cNvPr>
          <p:cNvSpPr/>
          <p:nvPr/>
        </p:nvSpPr>
        <p:spPr>
          <a:xfrm>
            <a:off x="5678340" y="2340864"/>
            <a:ext cx="5761320" cy="3545751"/>
          </a:xfrm>
          <a:prstGeom prst="roundRect">
            <a:avLst>
              <a:gd name="adj" fmla="val 2595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E55C79E5-CE9F-4898-AB31-0333248C0F4D}"/>
              </a:ext>
            </a:extLst>
          </p:cNvPr>
          <p:cNvSpPr/>
          <p:nvPr/>
        </p:nvSpPr>
        <p:spPr>
          <a:xfrm>
            <a:off x="5675544" y="2337984"/>
            <a:ext cx="5767356" cy="3552012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DD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916304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05DF2-F718-63AC-6D4E-F1CE98F4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DFA621B-D8FC-42C5-5C3A-E1507A74B89C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7399323A-588C-D3BF-5423-481E61397967}"/>
              </a:ext>
            </a:extLst>
          </p:cNvPr>
          <p:cNvSpPr>
            <a:spLocks noGrp="1"/>
          </p:cNvSpPr>
          <p:nvPr/>
        </p:nvSpPr>
        <p:spPr>
          <a:xfrm>
            <a:off x="654420" y="795816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600" b="0" u="none" strike="noStrike" kern="1200">
                <a:solidFill>
                  <a:schemeClr val="lt1"/>
                </a:solidFill>
                <a:effectLst/>
                <a:uFillTx/>
                <a:latin typeface="IBM Plex Sans"/>
                <a:ea typeface="+mj-ea"/>
                <a:cs typeface="+mj-cs"/>
              </a:defRPr>
            </a:lvl1pPr>
          </a:lstStyle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 dirty="0" err="1">
                <a:solidFill>
                  <a:srgbClr val="F4F1EA"/>
                </a:solidFill>
                <a:effectLst/>
                <a:uFillTx/>
                <a:latin typeface="Manrope"/>
                <a:ea typeface="Manrope"/>
              </a:rPr>
              <a:t>Защо</a:t>
            </a:r>
            <a:r>
              <a:rPr lang="en-US" sz="3600" b="1" u="none" strike="noStrike" dirty="0">
                <a:solidFill>
                  <a:srgbClr val="F4F1EA"/>
                </a:solidFill>
                <a:effectLst/>
                <a:uFillTx/>
                <a:latin typeface="Manrope"/>
                <a:ea typeface="Manrope"/>
              </a:rPr>
              <a:t> HTML, CSS и JavaScript</a:t>
            </a:r>
            <a:endParaRPr lang="en-GB" sz="3600" b="0" u="none" strike="noStrike" dirty="0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B52887-D60A-4E70-D28E-D72939FA430B}"/>
              </a:ext>
            </a:extLst>
          </p:cNvPr>
          <p:cNvSpPr/>
          <p:nvPr/>
        </p:nvSpPr>
        <p:spPr>
          <a:xfrm>
            <a:off x="755364" y="2154168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F239EE-83E3-22FF-94FF-3CA12D75DAE4}"/>
              </a:ext>
            </a:extLst>
          </p:cNvPr>
          <p:cNvSpPr/>
          <p:nvPr/>
        </p:nvSpPr>
        <p:spPr>
          <a:xfrm>
            <a:off x="920604" y="2154528"/>
            <a:ext cx="40024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Без build стъпка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16A2A5-AAB9-CE28-1A0A-C7C37481C5EA}"/>
              </a:ext>
            </a:extLst>
          </p:cNvPr>
          <p:cNvSpPr/>
          <p:nvPr/>
        </p:nvSpPr>
        <p:spPr>
          <a:xfrm>
            <a:off x="920604" y="2423808"/>
            <a:ext cx="4002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Сървърът дава страницата директно: промяна, презареждане, готово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F1C992A-9ACA-4400-DA4E-762F8FA3031E}"/>
              </a:ext>
            </a:extLst>
          </p:cNvPr>
          <p:cNvSpPr/>
          <p:nvPr/>
        </p:nvSpPr>
        <p:spPr>
          <a:xfrm>
            <a:off x="755364" y="3012768"/>
            <a:ext cx="360" cy="47484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93F966-486E-AF19-3048-8CF542FD91EB}"/>
              </a:ext>
            </a:extLst>
          </p:cNvPr>
          <p:cNvSpPr/>
          <p:nvPr/>
        </p:nvSpPr>
        <p:spPr>
          <a:xfrm>
            <a:off x="920604" y="3013128"/>
            <a:ext cx="40024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Работи навсякъде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56ED9D4-5934-FB04-E66C-336A8FBACE96}"/>
              </a:ext>
            </a:extLst>
          </p:cNvPr>
          <p:cNvSpPr/>
          <p:nvPr/>
        </p:nvSpPr>
        <p:spPr>
          <a:xfrm>
            <a:off x="920604" y="3282048"/>
            <a:ext cx="400248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Всеки браузър и телефон, без инсталация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2AA3DED-E76B-1854-14D7-E95DA9520177}"/>
              </a:ext>
            </a:extLst>
          </p:cNvPr>
          <p:cNvSpPr/>
          <p:nvPr/>
        </p:nvSpPr>
        <p:spPr>
          <a:xfrm>
            <a:off x="755364" y="3665448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E09915-0FAF-29A2-13A0-EB896E41C0B4}"/>
              </a:ext>
            </a:extLst>
          </p:cNvPr>
          <p:cNvSpPr/>
          <p:nvPr/>
        </p:nvSpPr>
        <p:spPr>
          <a:xfrm>
            <a:off x="920604" y="3665808"/>
            <a:ext cx="40024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Пълен контрол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7314560-780E-6D24-59FF-15A76052EDE5}"/>
              </a:ext>
            </a:extLst>
          </p:cNvPr>
          <p:cNvSpPr/>
          <p:nvPr/>
        </p:nvSpPr>
        <p:spPr>
          <a:xfrm>
            <a:off x="920604" y="3935088"/>
            <a:ext cx="4002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Облаците и вятърът се рисуват директно върху canvas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6394312-1E45-49C4-CD77-B9BA5C85936F}"/>
              </a:ext>
            </a:extLst>
          </p:cNvPr>
          <p:cNvSpPr/>
          <p:nvPr/>
        </p:nvSpPr>
        <p:spPr>
          <a:xfrm>
            <a:off x="755364" y="4524048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48BE18-C9E4-FF07-2B7B-83EC50037D5C}"/>
              </a:ext>
            </a:extLst>
          </p:cNvPr>
          <p:cNvSpPr/>
          <p:nvPr/>
        </p:nvSpPr>
        <p:spPr>
          <a:xfrm>
            <a:off x="920604" y="4524408"/>
            <a:ext cx="40024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Малко и бързо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5DB946-C862-E5F0-CAED-9393AF4E122B}"/>
              </a:ext>
            </a:extLst>
          </p:cNvPr>
          <p:cNvSpPr/>
          <p:nvPr/>
        </p:nvSpPr>
        <p:spPr>
          <a:xfrm>
            <a:off x="920604" y="4793328"/>
            <a:ext cx="4002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Без framework: само Leaflet за картата и Chart.js за графиките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Image 0" descr="Калкулаторът на AuFor в светла тема: карта с ивици на вятъра и профилът на системата вдясно">
            <a:extLst>
              <a:ext uri="{FF2B5EF4-FFF2-40B4-BE49-F238E27FC236}">
                <a16:creationId xmlns:a16="http://schemas.microsoft.com/office/drawing/2014/main" id="{CBAD2A13-99F6-ACED-EF08-F0B048AF7698}"/>
              </a:ext>
            </a:extLst>
          </p:cNvPr>
          <p:cNvSpPr/>
          <p:nvPr/>
        </p:nvSpPr>
        <p:spPr>
          <a:xfrm>
            <a:off x="5673088" y="2160648"/>
            <a:ext cx="5763547" cy="3005854"/>
          </a:xfrm>
          <a:prstGeom prst="roundRect">
            <a:avLst>
              <a:gd name="adj" fmla="val 3099"/>
            </a:avLst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406440" dist="152280" dir="5400000" algn="bl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350EEF6-8B16-A4A7-206C-36F3101CBEFA}"/>
              </a:ext>
            </a:extLst>
          </p:cNvPr>
          <p:cNvSpPr/>
          <p:nvPr/>
        </p:nvSpPr>
        <p:spPr>
          <a:xfrm>
            <a:off x="5667000" y="2154168"/>
            <a:ext cx="5769636" cy="3012192"/>
          </a:xfrm>
          <a:prstGeom prst="roundRect">
            <a:avLst>
              <a:gd name="adj" fmla="val 3196"/>
            </a:avLst>
          </a:prstGeom>
          <a:noFill/>
          <a:ln w="6350">
            <a:solidFill>
              <a:srgbClr val="2A3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11596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9F63C-A106-8C59-B685-EE95FB2E8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5F52F5A-34B1-C6B1-3A6D-36C28E7BB3C8}"/>
              </a:ext>
            </a:extLst>
          </p:cNvPr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FEFC492E-B544-4CC3-2FCB-1215E2A0D143}"/>
              </a:ext>
            </a:extLst>
          </p:cNvPr>
          <p:cNvSpPr>
            <a:spLocks noGrp="1"/>
          </p:cNvSpPr>
          <p:nvPr/>
        </p:nvSpPr>
        <p:spPr>
          <a:xfrm>
            <a:off x="657660" y="977040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600" b="0" u="none" strike="noStrike" kern="1200">
                <a:solidFill>
                  <a:schemeClr val="lt1"/>
                </a:solidFill>
                <a:effectLst/>
                <a:uFillTx/>
                <a:latin typeface="IBM Plex Sans"/>
                <a:ea typeface="+mj-ea"/>
                <a:cs typeface="+mj-cs"/>
              </a:defRPr>
            </a:lvl1pPr>
          </a:lstStyle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4400" b="1" u="none" strike="noStrike" dirty="0" err="1">
                <a:solidFill>
                  <a:schemeClr val="bg1"/>
                </a:solidFill>
                <a:effectLst/>
                <a:uFillTx/>
                <a:latin typeface="+mn-lt"/>
                <a:ea typeface="Manrope"/>
              </a:rPr>
              <a:t>Какво</a:t>
            </a:r>
            <a:r>
              <a:rPr lang="en-US" sz="4400" b="1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Manrope"/>
              </a:rPr>
              <a:t> </a:t>
            </a:r>
            <a:r>
              <a:rPr lang="en-US" sz="4400" b="1" u="none" strike="noStrike" dirty="0" err="1">
                <a:solidFill>
                  <a:schemeClr val="bg1"/>
                </a:solidFill>
                <a:effectLst/>
                <a:uFillTx/>
                <a:latin typeface="+mn-lt"/>
                <a:ea typeface="Manrope"/>
              </a:rPr>
              <a:t>построих</a:t>
            </a:r>
            <a:r>
              <a:rPr lang="bg-BG" sz="4400" b="1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Manrope"/>
              </a:rPr>
              <a:t>ме</a:t>
            </a:r>
            <a:endParaRPr lang="en-GB" sz="4400" b="0" u="none" strike="noStrike" dirty="0">
              <a:solidFill>
                <a:schemeClr val="bg1"/>
              </a:solidFill>
              <a:effectLst/>
              <a:uFillTx/>
              <a:latin typeface="+mn-lt"/>
            </a:endParaRPr>
          </a:p>
        </p:txBody>
      </p:sp>
      <p:sp>
        <p:nvSpPr>
          <p:cNvPr id="8" name="Image 0" descr="Картата с анимиран поток на вятъра и стрелки над облачната прогноза">
            <a:extLst>
              <a:ext uri="{FF2B5EF4-FFF2-40B4-BE49-F238E27FC236}">
                <a16:creationId xmlns:a16="http://schemas.microsoft.com/office/drawing/2014/main" id="{C030F792-08BB-803C-FDEC-8B1368D79C70}"/>
              </a:ext>
            </a:extLst>
          </p:cNvPr>
          <p:cNvSpPr/>
          <p:nvPr/>
        </p:nvSpPr>
        <p:spPr>
          <a:xfrm>
            <a:off x="660540" y="2080440"/>
            <a:ext cx="6082920" cy="3796920"/>
          </a:xfrm>
          <a:prstGeom prst="roundRect">
            <a:avLst>
              <a:gd name="adj" fmla="val 2508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10E0C7CF-B42D-652C-55C6-98E5A4B8246C}"/>
              </a:ext>
            </a:extLst>
          </p:cNvPr>
          <p:cNvSpPr/>
          <p:nvPr/>
        </p:nvSpPr>
        <p:spPr>
          <a:xfrm>
            <a:off x="657660" y="2077560"/>
            <a:ext cx="6089400" cy="3803400"/>
          </a:xfrm>
          <a:prstGeom prst="roundRect">
            <a:avLst>
              <a:gd name="adj" fmla="val 2588"/>
            </a:avLst>
          </a:prstGeom>
          <a:noFill/>
          <a:ln w="6350">
            <a:solidFill>
              <a:srgbClr val="DDD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A64D7B2-2118-999E-5B56-5E28DE6B0AF7}"/>
              </a:ext>
            </a:extLst>
          </p:cNvPr>
          <p:cNvSpPr/>
          <p:nvPr/>
        </p:nvSpPr>
        <p:spPr>
          <a:xfrm>
            <a:off x="7118580" y="2595168"/>
            <a:ext cx="360" cy="68076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88B8D40-14E5-EA00-FCA3-DADF696D6C90}"/>
              </a:ext>
            </a:extLst>
          </p:cNvPr>
          <p:cNvSpPr/>
          <p:nvPr/>
        </p:nvSpPr>
        <p:spPr>
          <a:xfrm>
            <a:off x="7283820" y="2595528"/>
            <a:ext cx="40546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Карта</a:t>
            </a:r>
            <a:r>
              <a:rPr lang="en-US" sz="1600" b="1" u="none" strike="noStrike" dirty="0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600" b="1" u="none" strike="noStrike" dirty="0" err="1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на</a:t>
            </a:r>
            <a:r>
              <a:rPr lang="en-US" sz="1600" b="1" u="none" strike="noStrike" dirty="0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600" b="1" u="none" strike="noStrike" dirty="0" err="1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облаци</a:t>
            </a:r>
            <a:r>
              <a:rPr lang="en-US" sz="1600" b="1" u="none" strike="noStrike" dirty="0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 и </a:t>
            </a:r>
            <a:r>
              <a:rPr lang="en-US" sz="1600" b="1" u="none" strike="noStrike" dirty="0" err="1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вятър</a:t>
            </a:r>
            <a:endParaRPr lang="en-GB" sz="16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D9F28AC-5753-27E4-DA30-AF16923CE73B}"/>
              </a:ext>
            </a:extLst>
          </p:cNvPr>
          <p:cNvSpPr/>
          <p:nvPr/>
        </p:nvSpPr>
        <p:spPr>
          <a:xfrm>
            <a:off x="7283820" y="2864808"/>
            <a:ext cx="40546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Слой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,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който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следва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изгледа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: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облаци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,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стрелки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,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анимиран</a:t>
            </a:r>
            <a:r>
              <a:rPr lang="en-US" sz="12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 </a:t>
            </a:r>
            <a:r>
              <a:rPr lang="en-US" sz="1200" b="0" u="none" strike="noStrike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поток</a:t>
            </a:r>
            <a:endParaRPr lang="en-GB" sz="1200" b="0" u="none" strike="noStrike" dirty="0">
              <a:solidFill>
                <a:schemeClr val="tx2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7932DCC-ADBC-4F2A-F412-495E661EBF45}"/>
              </a:ext>
            </a:extLst>
          </p:cNvPr>
          <p:cNvSpPr/>
          <p:nvPr/>
        </p:nvSpPr>
        <p:spPr>
          <a:xfrm>
            <a:off x="7118580" y="3453768"/>
            <a:ext cx="360" cy="47484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632B21E-E50D-1D83-BAFC-D149AE3FC80E}"/>
              </a:ext>
            </a:extLst>
          </p:cNvPr>
          <p:cNvSpPr/>
          <p:nvPr/>
        </p:nvSpPr>
        <p:spPr>
          <a:xfrm>
            <a:off x="7283820" y="3454128"/>
            <a:ext cx="40546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Времева лента</a:t>
            </a:r>
            <a:endParaRPr lang="en-GB" sz="1600" b="0" u="none" strike="noStrike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9A908ED-723B-072D-25A9-94B927A3835D}"/>
              </a:ext>
            </a:extLst>
          </p:cNvPr>
          <p:cNvSpPr/>
          <p:nvPr/>
        </p:nvSpPr>
        <p:spPr>
          <a:xfrm>
            <a:off x="7283820" y="3723048"/>
            <a:ext cx="405468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7 дни напред; графиките и картата са свързани по час</a:t>
            </a:r>
            <a:endParaRPr lang="en-GB" sz="1200" b="0" u="none" strike="noStrike">
              <a:solidFill>
                <a:schemeClr val="tx2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B2D7A469-DF87-FD61-AC95-089DF07CF11B}"/>
              </a:ext>
            </a:extLst>
          </p:cNvPr>
          <p:cNvSpPr/>
          <p:nvPr/>
        </p:nvSpPr>
        <p:spPr>
          <a:xfrm>
            <a:off x="7118580" y="4106448"/>
            <a:ext cx="360" cy="68076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70F9AE1A-9BA5-F3C1-D217-EC4A943C74C7}"/>
              </a:ext>
            </a:extLst>
          </p:cNvPr>
          <p:cNvSpPr/>
          <p:nvPr/>
        </p:nvSpPr>
        <p:spPr>
          <a:xfrm>
            <a:off x="7283820" y="4106808"/>
            <a:ext cx="40546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Резултати и съвети</a:t>
            </a:r>
            <a:endParaRPr lang="en-GB" sz="1600" b="0" u="none" strike="noStrike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1AEF4532-2B97-2FE6-B87E-E5C78B0084A7}"/>
              </a:ext>
            </a:extLst>
          </p:cNvPr>
          <p:cNvSpPr/>
          <p:nvPr/>
        </p:nvSpPr>
        <p:spPr>
          <a:xfrm>
            <a:off x="7283820" y="4376088"/>
            <a:ext cx="40546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Графики, карти със съвети, живи показания на 10 секунди</a:t>
            </a:r>
            <a:endParaRPr lang="en-GB" sz="1200" b="0" u="none" strike="noStrike">
              <a:solidFill>
                <a:schemeClr val="tx2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284D76D0-840F-4897-1F9E-D665C6EF1CB0}"/>
              </a:ext>
            </a:extLst>
          </p:cNvPr>
          <p:cNvSpPr/>
          <p:nvPr/>
        </p:nvSpPr>
        <p:spPr>
          <a:xfrm>
            <a:off x="7118580" y="4965048"/>
            <a:ext cx="360" cy="47520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5CB1596-A243-6654-995E-64E50E78278D}"/>
              </a:ext>
            </a:extLst>
          </p:cNvPr>
          <p:cNvSpPr/>
          <p:nvPr/>
        </p:nvSpPr>
        <p:spPr>
          <a:xfrm>
            <a:off x="7283820" y="4965408"/>
            <a:ext cx="405468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bg1"/>
                </a:solidFill>
                <a:effectLst/>
                <a:uFillTx/>
                <a:latin typeface="IBM Plex Sans"/>
                <a:ea typeface="IBM Plex Sans"/>
              </a:rPr>
              <a:t>За всеки екран</a:t>
            </a:r>
            <a:endParaRPr lang="en-GB" sz="1600" b="0" u="none" strike="noStrike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A2659AB-BF6C-689C-9F8A-A6408E77B6A5}"/>
              </a:ext>
            </a:extLst>
          </p:cNvPr>
          <p:cNvSpPr/>
          <p:nvPr/>
        </p:nvSpPr>
        <p:spPr>
          <a:xfrm>
            <a:off x="7283820" y="5234328"/>
            <a:ext cx="4054680" cy="23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Светла и тъмна тема, изглед за телефон</a:t>
            </a:r>
            <a:endParaRPr lang="en-GB" sz="1200" b="0" u="none" strike="noStrike">
              <a:solidFill>
                <a:schemeClr val="tx2">
                  <a:lumMod val="20000"/>
                  <a:lumOff val="80000"/>
                </a:schemeClr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8043839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B5FAF-F291-8D51-8671-178E5B3A9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F89BA8-41CE-10E0-14F4-10D5B8CC9B0B}"/>
              </a:ext>
            </a:extLst>
          </p:cNvPr>
          <p:cNvSpPr/>
          <p:nvPr/>
        </p:nvSpPr>
        <p:spPr>
          <a:xfrm>
            <a:off x="5775960" y="5215737"/>
            <a:ext cx="4480560" cy="51754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FABEB93-7920-369C-0D0D-103E30811AEA}"/>
              </a:ext>
            </a:extLst>
          </p:cNvPr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B2702720-7CD1-DCF7-F21A-4DBF7DB739BB}"/>
              </a:ext>
            </a:extLst>
          </p:cNvPr>
          <p:cNvSpPr txBox="1"/>
          <p:nvPr/>
        </p:nvSpPr>
        <p:spPr>
          <a:xfrm>
            <a:off x="1862328" y="9692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4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редсказва</a:t>
            </a:r>
            <a:r>
              <a:rPr lang="bg-BG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4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работa</a:t>
            </a:r>
            <a:r>
              <a:rPr lang="bg-BG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6171A7B-A985-31AF-91E4-FBBFF716949A}"/>
              </a:ext>
            </a:extLst>
          </p:cNvPr>
          <p:cNvSpPr/>
          <p:nvPr/>
        </p:nvSpPr>
        <p:spPr>
          <a:xfrm>
            <a:off x="1935480" y="2189988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ED9BC31-C79A-1B0E-1833-EEF30B839296}"/>
              </a:ext>
            </a:extLst>
          </p:cNvPr>
          <p:cNvSpPr txBox="1"/>
          <p:nvPr/>
        </p:nvSpPr>
        <p:spPr>
          <a:xfrm>
            <a:off x="2209800" y="20802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оценим слънчевата светлина към соларните панели за 5 минути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4DEFF01-83BF-C2EA-B0F5-5C1F9585155F}"/>
              </a:ext>
            </a:extLst>
          </p:cNvPr>
          <p:cNvSpPr/>
          <p:nvPr/>
        </p:nvSpPr>
        <p:spPr>
          <a:xfrm>
            <a:off x="1935480" y="3087243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BF02B10-CC60-7DAA-9C09-F9B8E92F74F9}"/>
              </a:ext>
            </a:extLst>
          </p:cNvPr>
          <p:cNvSpPr txBox="1"/>
          <p:nvPr/>
        </p:nvSpPr>
        <p:spPr>
          <a:xfrm>
            <a:off x="2209800" y="2977515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прави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Рибешка камера гледа нагоре; мрежата маркира всеки пиксел: облак или чисто небе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8D2F1CC-AA4C-C382-1C91-F335BF125247}"/>
              </a:ext>
            </a:extLst>
          </p:cNvPr>
          <p:cNvSpPr/>
          <p:nvPr/>
        </p:nvSpPr>
        <p:spPr>
          <a:xfrm>
            <a:off x="1935480" y="4201669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C9ABDA-EC2C-DBCC-D927-3529075967FB}"/>
              </a:ext>
            </a:extLst>
          </p:cNvPr>
          <p:cNvSpPr txBox="1"/>
          <p:nvPr/>
        </p:nvSpPr>
        <p:spPr>
          <a:xfrm>
            <a:off x="2209800" y="4091941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работи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Слънцето се маскира; свободно небе % = 100 − облаци %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EB25761-1E81-81C5-7F7C-7D90DF80C4C2}"/>
              </a:ext>
            </a:extLst>
          </p:cNvPr>
          <p:cNvSpPr/>
          <p:nvPr/>
        </p:nvSpPr>
        <p:spPr>
          <a:xfrm>
            <a:off x="1935480" y="5262372"/>
            <a:ext cx="128016" cy="12801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A7626F0-C8D1-F079-1B58-4AA70A4239CB}"/>
              </a:ext>
            </a:extLst>
          </p:cNvPr>
          <p:cNvSpPr txBox="1"/>
          <p:nvPr/>
        </p:nvSpPr>
        <p:spPr>
          <a:xfrm>
            <a:off x="2209800" y="515264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 запис на всеки 5 минути</a:t>
            </a:r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4" name="Image 0" descr="Original sky image">
            <a:extLst>
              <a:ext uri="{FF2B5EF4-FFF2-40B4-BE49-F238E27FC236}">
                <a16:creationId xmlns:a16="http://schemas.microsoft.com/office/drawing/2014/main" id="{50C1B9AB-CAEE-3772-A1A9-FCFEBFEF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0" y="2034540"/>
            <a:ext cx="2194560" cy="1463040"/>
          </a:xfrm>
          <a:prstGeom prst="rect">
            <a:avLst/>
          </a:prstGeom>
        </p:spPr>
      </p:pic>
      <p:pic>
        <p:nvPicPr>
          <p:cNvPr id="15" name="Image 1" descr="Sky image with analysis circle">
            <a:extLst>
              <a:ext uri="{FF2B5EF4-FFF2-40B4-BE49-F238E27FC236}">
                <a16:creationId xmlns:a16="http://schemas.microsoft.com/office/drawing/2014/main" id="{7355A214-E690-B84A-9449-7D24FCF95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960" y="2034540"/>
            <a:ext cx="2194560" cy="146304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94AD8542-3FD8-C65D-BA14-88E2439AF185}"/>
              </a:ext>
            </a:extLst>
          </p:cNvPr>
          <p:cNvSpPr txBox="1"/>
          <p:nvPr/>
        </p:nvSpPr>
        <p:spPr>
          <a:xfrm>
            <a:off x="5775960" y="35250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Входна снимка</a:t>
            </a:r>
            <a:endParaRPr lang="en-US" sz="1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087B33E-C96D-3D52-0EEC-CCA376BC1B8A}"/>
              </a:ext>
            </a:extLst>
          </p:cNvPr>
          <p:cNvSpPr txBox="1"/>
          <p:nvPr/>
        </p:nvSpPr>
        <p:spPr>
          <a:xfrm>
            <a:off x="8061960" y="35250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Анализирана област</a:t>
            </a:r>
            <a:endParaRPr lang="en-US" sz="1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8" name="Image 2" descr="Inference output">
            <a:extLst>
              <a:ext uri="{FF2B5EF4-FFF2-40B4-BE49-F238E27FC236}">
                <a16:creationId xmlns:a16="http://schemas.microsoft.com/office/drawing/2014/main" id="{3B989F8F-975A-CA13-1E90-312FCE049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960" y="3866997"/>
            <a:ext cx="4480560" cy="993953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0720A482-7E59-EE4B-E818-7077B653634D}"/>
              </a:ext>
            </a:extLst>
          </p:cNvPr>
          <p:cNvSpPr txBox="1"/>
          <p:nvPr/>
        </p:nvSpPr>
        <p:spPr>
          <a:xfrm>
            <a:off x="5775960" y="49240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 от модела</a:t>
            </a:r>
            <a:endParaRPr lang="en-US" sz="1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1E02DB9F-7099-5304-A3F0-161E593D5129}"/>
              </a:ext>
            </a:extLst>
          </p:cNvPr>
          <p:cNvSpPr/>
          <p:nvPr/>
        </p:nvSpPr>
        <p:spPr>
          <a:xfrm>
            <a:off x="5775960" y="523494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FFC0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r>
              <a:rPr lang="bg-BG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празно небе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1930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3EF82-BA19-AC3A-CFD8-2D7786B50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971AD28-2D4E-F781-A320-751464A6B1AE}"/>
              </a:ext>
            </a:extLst>
          </p:cNvPr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88D06C-4C33-DD8D-61C3-7C1BFC512765}"/>
              </a:ext>
            </a:extLst>
          </p:cNvPr>
          <p:cNvSpPr txBox="1"/>
          <p:nvPr/>
        </p:nvSpPr>
        <p:spPr>
          <a:xfrm>
            <a:off x="1588008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Вътрешни процеси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DADC630B-A873-58E4-5622-997CB9E42B69}"/>
              </a:ext>
            </a:extLst>
          </p:cNvPr>
          <p:cNvSpPr/>
          <p:nvPr/>
        </p:nvSpPr>
        <p:spPr>
          <a:xfrm>
            <a:off x="1935480" y="2258567"/>
            <a:ext cx="128016" cy="148499"/>
          </a:xfrm>
          <a:prstGeom prst="ellipse">
            <a:avLst/>
          </a:prstGeom>
          <a:solidFill>
            <a:srgbClr val="F4B4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25CE8711-76AF-6BC9-6C49-8091917B926C}"/>
              </a:ext>
            </a:extLst>
          </p:cNvPr>
          <p:cNvSpPr txBox="1"/>
          <p:nvPr/>
        </p:nvSpPr>
        <p:spPr>
          <a:xfrm>
            <a:off x="2209800" y="214884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на входа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Снимката се свива до 384×384 пиксела</a:t>
            </a:r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51D2393E-97FF-A815-11F3-5A80D5CC2A75}"/>
              </a:ext>
            </a:extLst>
          </p:cNvPr>
          <p:cNvSpPr/>
          <p:nvPr/>
        </p:nvSpPr>
        <p:spPr>
          <a:xfrm>
            <a:off x="1935480" y="3099815"/>
            <a:ext cx="128016" cy="148499"/>
          </a:xfrm>
          <a:prstGeom prst="ellipse">
            <a:avLst/>
          </a:prstGeom>
          <a:solidFill>
            <a:srgbClr val="F4B4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5345BD3-B73D-773B-A515-3C1E05328D8D}"/>
              </a:ext>
            </a:extLst>
          </p:cNvPr>
          <p:cNvSpPr txBox="1"/>
          <p:nvPr/>
        </p:nvSpPr>
        <p:spPr>
          <a:xfrm>
            <a:off x="2209800" y="2990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 модел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трансформър енкодер, обучен с ImageNet и дообучен върху 818 снимки</a:t>
            </a:r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48577119-D874-59CB-87FA-9E44740D8512}"/>
              </a:ext>
            </a:extLst>
          </p:cNvPr>
          <p:cNvSpPr/>
          <p:nvPr/>
        </p:nvSpPr>
        <p:spPr>
          <a:xfrm>
            <a:off x="1935480" y="3941063"/>
            <a:ext cx="128016" cy="148499"/>
          </a:xfrm>
          <a:prstGeom prst="ellipse">
            <a:avLst/>
          </a:prstGeom>
          <a:solidFill>
            <a:srgbClr val="F4B4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3000ECB8-6EE7-772B-4082-27C41F14250E}"/>
              </a:ext>
            </a:extLst>
          </p:cNvPr>
          <p:cNvSpPr txBox="1"/>
          <p:nvPr/>
        </p:nvSpPr>
        <p:spPr>
          <a:xfrm>
            <a:off x="2209800" y="383133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определя облаците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Слънцето се маскира; за останалото мрежата дава вероятност за облак</a:t>
            </a:r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99241918-A48D-B0E4-1C86-7A1A416B156B}"/>
              </a:ext>
            </a:extLst>
          </p:cNvPr>
          <p:cNvSpPr/>
          <p:nvPr/>
        </p:nvSpPr>
        <p:spPr>
          <a:xfrm>
            <a:off x="1935480" y="4782311"/>
            <a:ext cx="128016" cy="148499"/>
          </a:xfrm>
          <a:prstGeom prst="ellipse">
            <a:avLst/>
          </a:prstGeom>
          <a:solidFill>
            <a:srgbClr val="F4B4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0AABCDF0-6E2F-0287-036F-52309DD0E14E}"/>
              </a:ext>
            </a:extLst>
          </p:cNvPr>
          <p:cNvSpPr txBox="1"/>
          <p:nvPr/>
        </p:nvSpPr>
        <p:spPr>
          <a:xfrm>
            <a:off x="2209800" y="46725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търси най-добрите хиперпараметри: 30 опита, IoU 0.853</a:t>
            </a:r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0" name="Image 0" descr="Optuna tuning log">
            <a:extLst>
              <a:ext uri="{FF2B5EF4-FFF2-40B4-BE49-F238E27FC236}">
                <a16:creationId xmlns:a16="http://schemas.microsoft.com/office/drawing/2014/main" id="{B2CD4ADB-0503-B049-4CC2-E34E2917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0" y="2103120"/>
            <a:ext cx="4480560" cy="2228393"/>
          </a:xfrm>
          <a:prstGeom prst="rect">
            <a:avLst/>
          </a:prstGeom>
        </p:spPr>
      </p:pic>
      <p:sp>
        <p:nvSpPr>
          <p:cNvPr id="32" name="Shape 12">
            <a:extLst>
              <a:ext uri="{FF2B5EF4-FFF2-40B4-BE49-F238E27FC236}">
                <a16:creationId xmlns:a16="http://schemas.microsoft.com/office/drawing/2014/main" id="{8CCAFB63-3DD1-B84F-AE7E-3C101AA18B0B}"/>
              </a:ext>
            </a:extLst>
          </p:cNvPr>
          <p:cNvSpPr/>
          <p:nvPr/>
        </p:nvSpPr>
        <p:spPr>
          <a:xfrm>
            <a:off x="5775960" y="4453128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17B0A5F1-22C3-811B-CD64-39227CE8FD86}"/>
              </a:ext>
            </a:extLst>
          </p:cNvPr>
          <p:cNvSpPr txBox="1"/>
          <p:nvPr/>
        </p:nvSpPr>
        <p:spPr>
          <a:xfrm>
            <a:off x="5775960" y="44531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най-добър IoU</a:t>
            </a:r>
            <a:endParaRPr lang="en-US" sz="26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DF1613A1-6B8E-59EA-69F0-7FF5D6A06285}"/>
              </a:ext>
            </a:extLst>
          </p:cNvPr>
          <p:cNvSpPr/>
          <p:nvPr/>
        </p:nvSpPr>
        <p:spPr>
          <a:xfrm>
            <a:off x="8061960" y="4453128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3CF9917F-6763-5301-3F0C-8EC839EF01EA}"/>
              </a:ext>
            </a:extLst>
          </p:cNvPr>
          <p:cNvSpPr txBox="1"/>
          <p:nvPr/>
        </p:nvSpPr>
        <p:spPr>
          <a:xfrm>
            <a:off x="8061960" y="44531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оптимален праг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6357811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FA793-248D-408A-0546-E1291CFA6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369711A-C79A-98D6-B311-EC9A69A66472}"/>
              </a:ext>
            </a:extLst>
          </p:cNvPr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8384F82-21BE-2058-AC0E-F5D1808EA60C}"/>
              </a:ext>
            </a:extLst>
          </p:cNvPr>
          <p:cNvSpPr>
            <a:spLocks noGrp="1"/>
          </p:cNvSpPr>
          <p:nvPr/>
        </p:nvSpPr>
        <p:spPr>
          <a:xfrm>
            <a:off x="1038621" y="823615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r>
              <a:rPr lang="en-US" sz="4400" b="1" dirty="0" err="1">
                <a:solidFill>
                  <a:schemeClr val="bg1"/>
                </a:solidFill>
                <a:latin typeface="+mn-lt"/>
              </a:rPr>
              <a:t>Какво</a:t>
            </a:r>
            <a:r>
              <a:rPr lang="en-US" sz="4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+mn-lt"/>
              </a:rPr>
              <a:t>използва</a:t>
            </a:r>
            <a:r>
              <a:rPr lang="bg-BG" sz="4400" dirty="0" err="1">
                <a:latin typeface="+mn-lt"/>
              </a:rPr>
              <a:t>хме</a:t>
            </a:r>
            <a:r>
              <a:rPr lang="en-US" sz="4400" b="1" dirty="0">
                <a:solidFill>
                  <a:schemeClr val="bg1"/>
                </a:solidFill>
                <a:latin typeface="+mn-lt"/>
              </a:rPr>
              <a:t> и защо C++</a:t>
            </a:r>
            <a:endParaRPr lang="en-US" sz="4400" dirty="0">
              <a:latin typeface="+mn-lt"/>
            </a:endParaRPr>
          </a:p>
        </p:txBody>
      </p:sp>
      <p:sp>
        <p:nvSpPr>
          <p:cNvPr id="4" name="tool 1 circle">
            <a:extLst>
              <a:ext uri="{FF2B5EF4-FFF2-40B4-BE49-F238E27FC236}">
                <a16:creationId xmlns:a16="http://schemas.microsoft.com/office/drawing/2014/main" id="{5F6274F6-589E-4FB5-29AB-F450B970DB8E}"/>
              </a:ext>
            </a:extLst>
          </p:cNvPr>
          <p:cNvSpPr/>
          <p:nvPr/>
        </p:nvSpPr>
        <p:spPr>
          <a:xfrm>
            <a:off x="1468016" y="2292999"/>
            <a:ext cx="502920" cy="50292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ool 1 label">
            <a:extLst>
              <a:ext uri="{FF2B5EF4-FFF2-40B4-BE49-F238E27FC236}">
                <a16:creationId xmlns:a16="http://schemas.microsoft.com/office/drawing/2014/main" id="{E030A193-392D-2CC0-186A-A268B7BAD9AE}"/>
              </a:ext>
            </a:extLst>
          </p:cNvPr>
          <p:cNvSpPr txBox="1"/>
          <p:nvPr/>
        </p:nvSpPr>
        <p:spPr>
          <a:xfrm>
            <a:off x="1468016" y="229299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</a:t>
            </a:r>
            <a:endParaRPr lang="en-US" sz="1300" dirty="0"/>
          </a:p>
        </p:txBody>
      </p:sp>
      <p:sp>
        <p:nvSpPr>
          <p:cNvPr id="7" name="tool 1 name">
            <a:extLst>
              <a:ext uri="{FF2B5EF4-FFF2-40B4-BE49-F238E27FC236}">
                <a16:creationId xmlns:a16="http://schemas.microsoft.com/office/drawing/2014/main" id="{071B69B4-693E-AEBB-267D-CB96DDD5CA17}"/>
              </a:ext>
            </a:extLst>
          </p:cNvPr>
          <p:cNvSpPr txBox="1"/>
          <p:nvPr/>
        </p:nvSpPr>
        <p:spPr>
          <a:xfrm>
            <a:off x="2108096" y="227471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C++17</a:t>
            </a:r>
            <a:endParaRPr lang="en-US" sz="1500" dirty="0"/>
          </a:p>
        </p:txBody>
      </p:sp>
      <p:sp>
        <p:nvSpPr>
          <p:cNvPr id="8" name="tool 1 text">
            <a:extLst>
              <a:ext uri="{FF2B5EF4-FFF2-40B4-BE49-F238E27FC236}">
                <a16:creationId xmlns:a16="http://schemas.microsoft.com/office/drawing/2014/main" id="{BC9E6D46-582D-3B2A-7108-6CA62B72C398}"/>
              </a:ext>
            </a:extLst>
          </p:cNvPr>
          <p:cNvSpPr txBox="1"/>
          <p:nvPr/>
        </p:nvSpPr>
        <p:spPr>
          <a:xfrm>
            <a:off x="2108096" y="254903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ядрото с всички формули за слънцето и мощността</a:t>
            </a:r>
          </a:p>
        </p:txBody>
      </p:sp>
      <p:sp>
        <p:nvSpPr>
          <p:cNvPr id="9" name="tool 2 circle">
            <a:extLst>
              <a:ext uri="{FF2B5EF4-FFF2-40B4-BE49-F238E27FC236}">
                <a16:creationId xmlns:a16="http://schemas.microsoft.com/office/drawing/2014/main" id="{6B04282C-F5FE-1C2A-81AA-21C6BF7A2199}"/>
              </a:ext>
            </a:extLst>
          </p:cNvPr>
          <p:cNvSpPr/>
          <p:nvPr/>
        </p:nvSpPr>
        <p:spPr>
          <a:xfrm>
            <a:off x="1468016" y="3006231"/>
            <a:ext cx="502920" cy="50292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ool 2 label">
            <a:extLst>
              <a:ext uri="{FF2B5EF4-FFF2-40B4-BE49-F238E27FC236}">
                <a16:creationId xmlns:a16="http://schemas.microsoft.com/office/drawing/2014/main" id="{85722D52-F789-B82C-1E15-22A6E0D21DDA}"/>
              </a:ext>
            </a:extLst>
          </p:cNvPr>
          <p:cNvSpPr txBox="1"/>
          <p:nvPr/>
        </p:nvSpPr>
        <p:spPr>
          <a:xfrm>
            <a:off x="1468016" y="3006231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Py</a:t>
            </a:r>
            <a:endParaRPr lang="en-US" sz="1300" dirty="0"/>
          </a:p>
        </p:txBody>
      </p:sp>
      <p:sp>
        <p:nvSpPr>
          <p:cNvPr id="11" name="tool 2 name">
            <a:extLst>
              <a:ext uri="{FF2B5EF4-FFF2-40B4-BE49-F238E27FC236}">
                <a16:creationId xmlns:a16="http://schemas.microsoft.com/office/drawing/2014/main" id="{B78A34B3-A51C-CA92-1D6D-1EA820B6C9AF}"/>
              </a:ext>
            </a:extLst>
          </p:cNvPr>
          <p:cNvSpPr txBox="1"/>
          <p:nvPr/>
        </p:nvSpPr>
        <p:spPr>
          <a:xfrm>
            <a:off x="2108096" y="2987943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Python + ctypes</a:t>
            </a:r>
            <a:endParaRPr lang="en-US" sz="1500" dirty="0"/>
          </a:p>
        </p:txBody>
      </p:sp>
      <p:sp>
        <p:nvSpPr>
          <p:cNvPr id="12" name="tool 2 text">
            <a:extLst>
              <a:ext uri="{FF2B5EF4-FFF2-40B4-BE49-F238E27FC236}">
                <a16:creationId xmlns:a16="http://schemas.microsoft.com/office/drawing/2014/main" id="{9AC72D2C-158D-7472-21AD-75A9C5CEB636}"/>
              </a:ext>
            </a:extLst>
          </p:cNvPr>
          <p:cNvSpPr txBox="1"/>
          <p:nvPr/>
        </p:nvSpPr>
        <p:spPr>
          <a:xfrm>
            <a:off x="2108096" y="3262263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свързва C++ ядрото със сайта</a:t>
            </a:r>
          </a:p>
        </p:txBody>
      </p:sp>
      <p:sp>
        <p:nvSpPr>
          <p:cNvPr id="13" name="tool 3 circle">
            <a:extLst>
              <a:ext uri="{FF2B5EF4-FFF2-40B4-BE49-F238E27FC236}">
                <a16:creationId xmlns:a16="http://schemas.microsoft.com/office/drawing/2014/main" id="{7C70706B-C2C3-54CF-0581-238A3F467D2E}"/>
              </a:ext>
            </a:extLst>
          </p:cNvPr>
          <p:cNvSpPr/>
          <p:nvPr/>
        </p:nvSpPr>
        <p:spPr>
          <a:xfrm>
            <a:off x="1468016" y="3719463"/>
            <a:ext cx="502920" cy="50292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ool 3 label">
            <a:extLst>
              <a:ext uri="{FF2B5EF4-FFF2-40B4-BE49-F238E27FC236}">
                <a16:creationId xmlns:a16="http://schemas.microsoft.com/office/drawing/2014/main" id="{FCF5CEF4-5233-CB66-1379-50287606A82A}"/>
              </a:ext>
            </a:extLst>
          </p:cNvPr>
          <p:cNvSpPr txBox="1"/>
          <p:nvPr/>
        </p:nvSpPr>
        <p:spPr>
          <a:xfrm>
            <a:off x="1468016" y="371946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OM</a:t>
            </a:r>
            <a:endParaRPr lang="en-US" sz="1300" dirty="0"/>
          </a:p>
        </p:txBody>
      </p:sp>
      <p:sp>
        <p:nvSpPr>
          <p:cNvPr id="15" name="tool 3 name">
            <a:extLst>
              <a:ext uri="{FF2B5EF4-FFF2-40B4-BE49-F238E27FC236}">
                <a16:creationId xmlns:a16="http://schemas.microsoft.com/office/drawing/2014/main" id="{47FA8157-A1AD-60CA-77C7-C54CDBBC64AF}"/>
              </a:ext>
            </a:extLst>
          </p:cNvPr>
          <p:cNvSpPr txBox="1"/>
          <p:nvPr/>
        </p:nvSpPr>
        <p:spPr>
          <a:xfrm>
            <a:off x="2108096" y="3701175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Open-Meteo</a:t>
            </a:r>
            <a:endParaRPr lang="en-US" sz="1500" dirty="0"/>
          </a:p>
        </p:txBody>
      </p:sp>
      <p:sp>
        <p:nvSpPr>
          <p:cNvPr id="16" name="tool 3 text">
            <a:extLst>
              <a:ext uri="{FF2B5EF4-FFF2-40B4-BE49-F238E27FC236}">
                <a16:creationId xmlns:a16="http://schemas.microsoft.com/office/drawing/2014/main" id="{2193894A-63B7-05D5-1B33-6AFBD203A270}"/>
              </a:ext>
            </a:extLst>
          </p:cNvPr>
          <p:cNvSpPr txBox="1"/>
          <p:nvPr/>
        </p:nvSpPr>
        <p:spPr>
          <a:xfrm>
            <a:off x="2108096" y="3975495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прогноза за слънцето, температурата и облаците</a:t>
            </a:r>
          </a:p>
        </p:txBody>
      </p:sp>
      <p:sp>
        <p:nvSpPr>
          <p:cNvPr id="17" name="tool 4 circle">
            <a:extLst>
              <a:ext uri="{FF2B5EF4-FFF2-40B4-BE49-F238E27FC236}">
                <a16:creationId xmlns:a16="http://schemas.microsoft.com/office/drawing/2014/main" id="{23153A99-A54C-1351-F38C-A7DFF357821D}"/>
              </a:ext>
            </a:extLst>
          </p:cNvPr>
          <p:cNvSpPr/>
          <p:nvPr/>
        </p:nvSpPr>
        <p:spPr>
          <a:xfrm>
            <a:off x="1468016" y="4432695"/>
            <a:ext cx="502920" cy="50292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ool 4 label">
            <a:extLst>
              <a:ext uri="{FF2B5EF4-FFF2-40B4-BE49-F238E27FC236}">
                <a16:creationId xmlns:a16="http://schemas.microsoft.com/office/drawing/2014/main" id="{00A8730B-5C39-4621-E920-93C6604C9BBB}"/>
              </a:ext>
            </a:extLst>
          </p:cNvPr>
          <p:cNvSpPr txBox="1"/>
          <p:nvPr/>
        </p:nvSpPr>
        <p:spPr>
          <a:xfrm>
            <a:off x="1468016" y="4432695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pv</a:t>
            </a:r>
            <a:endParaRPr lang="en-US" sz="1300" dirty="0"/>
          </a:p>
        </p:txBody>
      </p:sp>
      <p:sp>
        <p:nvSpPr>
          <p:cNvPr id="19" name="tool 4 name">
            <a:extLst>
              <a:ext uri="{FF2B5EF4-FFF2-40B4-BE49-F238E27FC236}">
                <a16:creationId xmlns:a16="http://schemas.microsoft.com/office/drawing/2014/main" id="{D1B7FDC8-8B30-FD20-4122-A1C42E9953D6}"/>
              </a:ext>
            </a:extLst>
          </p:cNvPr>
          <p:cNvSpPr txBox="1"/>
          <p:nvPr/>
        </p:nvSpPr>
        <p:spPr>
          <a:xfrm>
            <a:off x="2108096" y="4414407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pvlib</a:t>
            </a:r>
            <a:endParaRPr lang="en-US" sz="1500" dirty="0"/>
          </a:p>
        </p:txBody>
      </p:sp>
      <p:sp>
        <p:nvSpPr>
          <p:cNvPr id="20" name="tool 4 text">
            <a:extLst>
              <a:ext uri="{FF2B5EF4-FFF2-40B4-BE49-F238E27FC236}">
                <a16:creationId xmlns:a16="http://schemas.microsoft.com/office/drawing/2014/main" id="{0014FB51-8D1D-1D5F-718C-4EE85D1D2164}"/>
              </a:ext>
            </a:extLst>
          </p:cNvPr>
          <p:cNvSpPr txBox="1"/>
          <p:nvPr/>
        </p:nvSpPr>
        <p:spPr>
          <a:xfrm>
            <a:off x="2108096" y="4688727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научна библиотека, с която проверих резултатите</a:t>
            </a:r>
          </a:p>
        </p:txBody>
      </p:sp>
      <p:sp>
        <p:nvSpPr>
          <p:cNvPr id="21" name="tool 5 circle">
            <a:extLst>
              <a:ext uri="{FF2B5EF4-FFF2-40B4-BE49-F238E27FC236}">
                <a16:creationId xmlns:a16="http://schemas.microsoft.com/office/drawing/2014/main" id="{A94D38EB-44B0-04AF-AD8D-E0505C9EFAF7}"/>
              </a:ext>
            </a:extLst>
          </p:cNvPr>
          <p:cNvSpPr/>
          <p:nvPr/>
        </p:nvSpPr>
        <p:spPr>
          <a:xfrm>
            <a:off x="1468016" y="5145927"/>
            <a:ext cx="502920" cy="50292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ool 5 label">
            <a:extLst>
              <a:ext uri="{FF2B5EF4-FFF2-40B4-BE49-F238E27FC236}">
                <a16:creationId xmlns:a16="http://schemas.microsoft.com/office/drawing/2014/main" id="{4DFAAC00-7E9D-D55A-5F6A-53B2D063D3E7}"/>
              </a:ext>
            </a:extLst>
          </p:cNvPr>
          <p:cNvSpPr txBox="1"/>
          <p:nvPr/>
        </p:nvSpPr>
        <p:spPr>
          <a:xfrm>
            <a:off x="1468016" y="514592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VS</a:t>
            </a:r>
            <a:endParaRPr lang="en-US" sz="1300" dirty="0"/>
          </a:p>
        </p:txBody>
      </p:sp>
      <p:sp>
        <p:nvSpPr>
          <p:cNvPr id="23" name="tool 5 name">
            <a:extLst>
              <a:ext uri="{FF2B5EF4-FFF2-40B4-BE49-F238E27FC236}">
                <a16:creationId xmlns:a16="http://schemas.microsoft.com/office/drawing/2014/main" id="{368322BE-2D28-996B-1240-6922A4850296}"/>
              </a:ext>
            </a:extLst>
          </p:cNvPr>
          <p:cNvSpPr txBox="1"/>
          <p:nvPr/>
        </p:nvSpPr>
        <p:spPr>
          <a:xfrm>
            <a:off x="2108096" y="5127639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Visual Studio + pytest</a:t>
            </a:r>
            <a:endParaRPr lang="en-US" sz="1500" dirty="0"/>
          </a:p>
        </p:txBody>
      </p:sp>
      <p:sp>
        <p:nvSpPr>
          <p:cNvPr id="24" name="tool 5 text">
            <a:extLst>
              <a:ext uri="{FF2B5EF4-FFF2-40B4-BE49-F238E27FC236}">
                <a16:creationId xmlns:a16="http://schemas.microsoft.com/office/drawing/2014/main" id="{53D3636F-066F-2E5F-5FF1-497A7655F1F5}"/>
              </a:ext>
            </a:extLst>
          </p:cNvPr>
          <p:cNvSpPr txBox="1"/>
          <p:nvPr/>
        </p:nvSpPr>
        <p:spPr>
          <a:xfrm>
            <a:off x="2108096" y="5401959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компилиране и автоматични тестове</a:t>
            </a:r>
          </a:p>
        </p:txBody>
      </p:sp>
      <p:sp>
        <p:nvSpPr>
          <p:cNvPr id="25" name="speed card">
            <a:extLst>
              <a:ext uri="{FF2B5EF4-FFF2-40B4-BE49-F238E27FC236}">
                <a16:creationId xmlns:a16="http://schemas.microsoft.com/office/drawing/2014/main" id="{9160A31F-FAFA-083D-6790-CD97D5CF1CBD}"/>
              </a:ext>
            </a:extLst>
          </p:cNvPr>
          <p:cNvSpPr/>
          <p:nvPr/>
        </p:nvSpPr>
        <p:spPr>
          <a:xfrm>
            <a:off x="7475997" y="2371096"/>
            <a:ext cx="3566160" cy="3184539"/>
          </a:xfrm>
          <a:prstGeom prst="roundRect">
            <a:avLst>
              <a:gd name="adj" fmla="val 320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peed head">
            <a:extLst>
              <a:ext uri="{FF2B5EF4-FFF2-40B4-BE49-F238E27FC236}">
                <a16:creationId xmlns:a16="http://schemas.microsoft.com/office/drawing/2014/main" id="{221842EE-9B5D-11D4-8FD0-AE612698AC88}"/>
              </a:ext>
            </a:extLst>
          </p:cNvPr>
          <p:cNvSpPr txBox="1"/>
          <p:nvPr/>
        </p:nvSpPr>
        <p:spPr>
          <a:xfrm>
            <a:off x="7704597" y="254688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C++ смята по-бързо</a:t>
            </a:r>
          </a:p>
        </p:txBody>
      </p:sp>
      <p:sp>
        <p:nvSpPr>
          <p:cNvPr id="27" name="speed stat 1">
            <a:extLst>
              <a:ext uri="{FF2B5EF4-FFF2-40B4-BE49-F238E27FC236}">
                <a16:creationId xmlns:a16="http://schemas.microsoft.com/office/drawing/2014/main" id="{80CC798F-2723-1ADC-B3DA-A14F6AEEB220}"/>
              </a:ext>
            </a:extLst>
          </p:cNvPr>
          <p:cNvSpPr txBox="1"/>
          <p:nvPr/>
        </p:nvSpPr>
        <p:spPr>
          <a:xfrm>
            <a:off x="7704597" y="2965456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</a:rPr>
              <a:t>~50×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28" name="speed stat 1 label">
            <a:extLst>
              <a:ext uri="{FF2B5EF4-FFF2-40B4-BE49-F238E27FC236}">
                <a16:creationId xmlns:a16="http://schemas.microsoft.com/office/drawing/2014/main" id="{DEC00ED2-D5D2-3190-549A-AF114449E988}"/>
              </a:ext>
            </a:extLst>
          </p:cNvPr>
          <p:cNvSpPr txBox="1"/>
          <p:nvPr/>
        </p:nvSpPr>
        <p:spPr>
          <a:xfrm>
            <a:off x="7704597" y="365125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по-бързо смята къде е слънцето за всеки час</a:t>
            </a:r>
          </a:p>
        </p:txBody>
      </p:sp>
      <p:sp>
        <p:nvSpPr>
          <p:cNvPr id="29" name="speed stat 2">
            <a:extLst>
              <a:ext uri="{FF2B5EF4-FFF2-40B4-BE49-F238E27FC236}">
                <a16:creationId xmlns:a16="http://schemas.microsoft.com/office/drawing/2014/main" id="{322E6DF6-EB8B-07FD-FDEC-C979854FB0E7}"/>
              </a:ext>
            </a:extLst>
          </p:cNvPr>
          <p:cNvSpPr txBox="1"/>
          <p:nvPr/>
        </p:nvSpPr>
        <p:spPr>
          <a:xfrm>
            <a:off x="7704597" y="4154176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</a:rPr>
              <a:t>~5×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30" name="speed stat 2 label">
            <a:extLst>
              <a:ext uri="{FF2B5EF4-FFF2-40B4-BE49-F238E27FC236}">
                <a16:creationId xmlns:a16="http://schemas.microsoft.com/office/drawing/2014/main" id="{177DE011-5C7A-BFCE-9E9E-F54908010743}"/>
              </a:ext>
            </a:extLst>
          </p:cNvPr>
          <p:cNvSpPr txBox="1"/>
          <p:nvPr/>
        </p:nvSpPr>
        <p:spPr>
          <a:xfrm>
            <a:off x="7704597" y="4878606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по-бързо търси най-добрия наклон: 0,10 s вместо 0,51 s за 6 млн. сметки</a:t>
            </a:r>
          </a:p>
        </p:txBody>
      </p:sp>
    </p:spTree>
    <p:extLst>
      <p:ext uri="{BB962C8B-B14F-4D97-AF65-F5344CB8AC3E}">
        <p14:creationId xmlns:p14="http://schemas.microsoft.com/office/powerpoint/2010/main" val="203744571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00867-0257-D8EE-90A3-64CEB942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A2968E7-2DDA-582C-F82E-2F94A3544A08}"/>
              </a:ext>
            </a:extLst>
          </p:cNvPr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6048A3E2-03F1-EFBF-10D5-E0EE8F81191B}"/>
              </a:ext>
            </a:extLst>
          </p:cNvPr>
          <p:cNvSpPr>
            <a:spLocks noGrp="1"/>
          </p:cNvSpPr>
          <p:nvPr/>
        </p:nvSpPr>
        <p:spPr>
          <a:xfrm>
            <a:off x="1981200" y="786384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r>
              <a:rPr lang="en-US" sz="4400" b="1" dirty="0" err="1">
                <a:solidFill>
                  <a:schemeClr val="bg1"/>
                </a:solidFill>
                <a:latin typeface="+mn-lt"/>
              </a:rPr>
              <a:t>Какво</a:t>
            </a:r>
            <a:r>
              <a:rPr lang="en-US" sz="4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+mn-lt"/>
              </a:rPr>
              <a:t>направих</a:t>
            </a:r>
            <a:r>
              <a:rPr lang="bg-BG" sz="4400" b="1" dirty="0">
                <a:solidFill>
                  <a:schemeClr val="bg1"/>
                </a:solidFill>
                <a:latin typeface="+mn-lt"/>
              </a:rPr>
              <a:t>ме</a:t>
            </a:r>
            <a:r>
              <a:rPr lang="en-US" sz="4400" b="1" dirty="0">
                <a:solidFill>
                  <a:schemeClr val="bg1"/>
                </a:solidFill>
                <a:latin typeface="+mn-lt"/>
              </a:rPr>
              <a:t> и защо</a:t>
            </a:r>
            <a:endParaRPr lang="en-US" sz="4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2" name="item 1 card">
            <a:extLst>
              <a:ext uri="{FF2B5EF4-FFF2-40B4-BE49-F238E27FC236}">
                <a16:creationId xmlns:a16="http://schemas.microsoft.com/office/drawing/2014/main" id="{BD8F6622-F926-DD17-549F-DAB876B811B2}"/>
              </a:ext>
            </a:extLst>
          </p:cNvPr>
          <p:cNvSpPr/>
          <p:nvPr/>
        </p:nvSpPr>
        <p:spPr>
          <a:xfrm>
            <a:off x="1981200" y="1938528"/>
            <a:ext cx="5623559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tem 1 circle">
            <a:extLst>
              <a:ext uri="{FF2B5EF4-FFF2-40B4-BE49-F238E27FC236}">
                <a16:creationId xmlns:a16="http://schemas.microsoft.com/office/drawing/2014/main" id="{7FEAC574-7F15-E1F0-4096-7DEA019A3A2C}"/>
              </a:ext>
            </a:extLst>
          </p:cNvPr>
          <p:cNvSpPr/>
          <p:nvPr/>
        </p:nvSpPr>
        <p:spPr>
          <a:xfrm>
            <a:off x="2090928" y="202996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tem 1 label">
            <a:extLst>
              <a:ext uri="{FF2B5EF4-FFF2-40B4-BE49-F238E27FC236}">
                <a16:creationId xmlns:a16="http://schemas.microsoft.com/office/drawing/2014/main" id="{749A4F9C-18AF-6CBC-26FA-4DB9ACB07C2C}"/>
              </a:ext>
            </a:extLst>
          </p:cNvPr>
          <p:cNvSpPr txBox="1"/>
          <p:nvPr/>
        </p:nvSpPr>
        <p:spPr>
          <a:xfrm>
            <a:off x="2090928" y="20299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item 1 title">
            <a:extLst>
              <a:ext uri="{FF2B5EF4-FFF2-40B4-BE49-F238E27FC236}">
                <a16:creationId xmlns:a16="http://schemas.microsoft.com/office/drawing/2014/main" id="{CF481EF1-75DE-F07A-A06E-B70D36A8E33E}"/>
              </a:ext>
            </a:extLst>
          </p:cNvPr>
          <p:cNvSpPr txBox="1"/>
          <p:nvPr/>
        </p:nvSpPr>
        <p:spPr>
          <a:xfrm>
            <a:off x="2529840" y="198424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Позиция на слънцето и светлина върху панела </a:t>
            </a:r>
            <a:endParaRPr lang="en-US" sz="1200" dirty="0"/>
          </a:p>
        </p:txBody>
      </p:sp>
      <p:sp>
        <p:nvSpPr>
          <p:cNvPr id="36" name="item 1 text">
            <a:extLst>
              <a:ext uri="{FF2B5EF4-FFF2-40B4-BE49-F238E27FC236}">
                <a16:creationId xmlns:a16="http://schemas.microsoft.com/office/drawing/2014/main" id="{8C817302-F56C-9A91-8BA7-E8EA4A866AEE}"/>
              </a:ext>
            </a:extLst>
          </p:cNvPr>
          <p:cNvSpPr txBox="1"/>
          <p:nvPr/>
        </p:nvSpPr>
        <p:spPr>
          <a:xfrm>
            <a:off x="2529840" y="2212848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Прогнозата за времето дава светлината върху хоризонтална земя. Панелът обаче е наклонен (например 35°) и обърнат в някаква посока. Затова смятам къде е слънцето за всеки час и колко светлина пада точно върху панела.</a:t>
            </a:r>
            <a:endParaRPr lang="en-US" sz="1000" dirty="0"/>
          </a:p>
        </p:txBody>
      </p:sp>
      <p:sp>
        <p:nvSpPr>
          <p:cNvPr id="39" name="item 2 card">
            <a:extLst>
              <a:ext uri="{FF2B5EF4-FFF2-40B4-BE49-F238E27FC236}">
                <a16:creationId xmlns:a16="http://schemas.microsoft.com/office/drawing/2014/main" id="{AEE087FA-D14F-DC95-F853-E6484315399E}"/>
              </a:ext>
            </a:extLst>
          </p:cNvPr>
          <p:cNvSpPr/>
          <p:nvPr/>
        </p:nvSpPr>
        <p:spPr>
          <a:xfrm>
            <a:off x="1981201" y="2761488"/>
            <a:ext cx="5623559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item 2 circle">
            <a:extLst>
              <a:ext uri="{FF2B5EF4-FFF2-40B4-BE49-F238E27FC236}">
                <a16:creationId xmlns:a16="http://schemas.microsoft.com/office/drawing/2014/main" id="{AD29C0A8-4F25-05D8-7BA4-B9ECD46C3013}"/>
              </a:ext>
            </a:extLst>
          </p:cNvPr>
          <p:cNvSpPr/>
          <p:nvPr/>
        </p:nvSpPr>
        <p:spPr>
          <a:xfrm>
            <a:off x="2090928" y="285292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item 2 label">
            <a:extLst>
              <a:ext uri="{FF2B5EF4-FFF2-40B4-BE49-F238E27FC236}">
                <a16:creationId xmlns:a16="http://schemas.microsoft.com/office/drawing/2014/main" id="{7EAD2B7F-AFF1-871D-ADF6-9FD742DBB05B}"/>
              </a:ext>
            </a:extLst>
          </p:cNvPr>
          <p:cNvSpPr txBox="1"/>
          <p:nvPr/>
        </p:nvSpPr>
        <p:spPr>
          <a:xfrm>
            <a:off x="2090928" y="28529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2" name="item 2 title">
            <a:extLst>
              <a:ext uri="{FF2B5EF4-FFF2-40B4-BE49-F238E27FC236}">
                <a16:creationId xmlns:a16="http://schemas.microsoft.com/office/drawing/2014/main" id="{EC804C02-449E-CE06-B826-BA0E89828170}"/>
              </a:ext>
            </a:extLst>
          </p:cNvPr>
          <p:cNvSpPr txBox="1"/>
          <p:nvPr/>
        </p:nvSpPr>
        <p:spPr>
          <a:xfrm>
            <a:off x="2529840" y="280720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Температура и мощност на панела </a:t>
            </a:r>
            <a:endParaRPr lang="en-US" sz="1200" dirty="0"/>
          </a:p>
        </p:txBody>
      </p:sp>
      <p:sp>
        <p:nvSpPr>
          <p:cNvPr id="43" name="item 2 text">
            <a:extLst>
              <a:ext uri="{FF2B5EF4-FFF2-40B4-BE49-F238E27FC236}">
                <a16:creationId xmlns:a16="http://schemas.microsoft.com/office/drawing/2014/main" id="{305C5A1B-1F98-5CE5-2600-00ED9632FD7D}"/>
              </a:ext>
            </a:extLst>
          </p:cNvPr>
          <p:cNvSpPr txBox="1"/>
          <p:nvPr/>
        </p:nvSpPr>
        <p:spPr>
          <a:xfrm>
            <a:off x="2529840" y="3035808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На слънце панелът се загрява, а горещият панел дава по-малко ток (−0,4% за всеки градус над 25 °C). Смятам температурата на панела, колко мощност произвежда и колко ток излиза след инвертора.</a:t>
            </a:r>
            <a:endParaRPr lang="en-US" sz="1000" dirty="0"/>
          </a:p>
        </p:txBody>
      </p:sp>
      <p:sp>
        <p:nvSpPr>
          <p:cNvPr id="46" name="item 3 card">
            <a:extLst>
              <a:ext uri="{FF2B5EF4-FFF2-40B4-BE49-F238E27FC236}">
                <a16:creationId xmlns:a16="http://schemas.microsoft.com/office/drawing/2014/main" id="{B2766A1C-3164-44A2-3F77-A1FDE89CF407}"/>
              </a:ext>
            </a:extLst>
          </p:cNvPr>
          <p:cNvSpPr/>
          <p:nvPr/>
        </p:nvSpPr>
        <p:spPr>
          <a:xfrm>
            <a:off x="1981200" y="3584448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item 3 circle">
            <a:extLst>
              <a:ext uri="{FF2B5EF4-FFF2-40B4-BE49-F238E27FC236}">
                <a16:creationId xmlns:a16="http://schemas.microsoft.com/office/drawing/2014/main" id="{16EEF7AB-F2D8-0D37-D610-1A99387F03B1}"/>
              </a:ext>
            </a:extLst>
          </p:cNvPr>
          <p:cNvSpPr/>
          <p:nvPr/>
        </p:nvSpPr>
        <p:spPr>
          <a:xfrm>
            <a:off x="2090928" y="367588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item 3 label">
            <a:extLst>
              <a:ext uri="{FF2B5EF4-FFF2-40B4-BE49-F238E27FC236}">
                <a16:creationId xmlns:a16="http://schemas.microsoft.com/office/drawing/2014/main" id="{6C6274E3-DC37-3CCE-7901-48466BAE3FFC}"/>
              </a:ext>
            </a:extLst>
          </p:cNvPr>
          <p:cNvSpPr txBox="1"/>
          <p:nvPr/>
        </p:nvSpPr>
        <p:spPr>
          <a:xfrm>
            <a:off x="2090928" y="367588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9" name="item 3 title">
            <a:extLst>
              <a:ext uri="{FF2B5EF4-FFF2-40B4-BE49-F238E27FC236}">
                <a16:creationId xmlns:a16="http://schemas.microsoft.com/office/drawing/2014/main" id="{21AEB019-965B-1605-A19C-CE2067993F00}"/>
              </a:ext>
            </a:extLst>
          </p:cNvPr>
          <p:cNvSpPr txBox="1"/>
          <p:nvPr/>
        </p:nvSpPr>
        <p:spPr>
          <a:xfrm>
            <a:off x="2529840" y="363016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Резервен план при липса на данни </a:t>
            </a:r>
            <a:endParaRPr lang="en-US" sz="1200" dirty="0"/>
          </a:p>
        </p:txBody>
      </p:sp>
      <p:sp>
        <p:nvSpPr>
          <p:cNvPr id="50" name="item 3 text">
            <a:extLst>
              <a:ext uri="{FF2B5EF4-FFF2-40B4-BE49-F238E27FC236}">
                <a16:creationId xmlns:a16="http://schemas.microsoft.com/office/drawing/2014/main" id="{53866049-3841-9415-61C7-D0913035C983}"/>
              </a:ext>
            </a:extLst>
          </p:cNvPr>
          <p:cNvSpPr txBox="1"/>
          <p:nvPr/>
        </p:nvSpPr>
        <p:spPr>
          <a:xfrm>
            <a:off x="2529840" y="3858768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Понякога прогнозата няма данни за светлината, а само за облаците. Тогава смятам светлината при ясно небе и колко от нея спират облаците, за да има прогноза винаги.</a:t>
            </a:r>
            <a:endParaRPr lang="en-US" sz="1000" dirty="0"/>
          </a:p>
        </p:txBody>
      </p:sp>
      <p:sp>
        <p:nvSpPr>
          <p:cNvPr id="51" name="item 3 box">
            <a:extLst>
              <a:ext uri="{FF2B5EF4-FFF2-40B4-BE49-F238E27FC236}">
                <a16:creationId xmlns:a16="http://schemas.microsoft.com/office/drawing/2014/main" id="{F780B617-D18E-1D37-EBB0-C953885CD003}"/>
              </a:ext>
            </a:extLst>
          </p:cNvPr>
          <p:cNvSpPr/>
          <p:nvPr/>
        </p:nvSpPr>
        <p:spPr>
          <a:xfrm>
            <a:off x="7604760" y="3657600"/>
            <a:ext cx="2487168" cy="630936"/>
          </a:xfrm>
          <a:prstGeom prst="roundRect">
            <a:avLst>
              <a:gd name="adj" fmla="val 11594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item 3 fact">
            <a:extLst>
              <a:ext uri="{FF2B5EF4-FFF2-40B4-BE49-F238E27FC236}">
                <a16:creationId xmlns:a16="http://schemas.microsoft.com/office/drawing/2014/main" id="{485FFB63-01EB-FE5B-8CEC-A0664C11DB2B}"/>
              </a:ext>
            </a:extLst>
          </p:cNvPr>
          <p:cNvSpPr txBox="1"/>
          <p:nvPr/>
        </p:nvSpPr>
        <p:spPr>
          <a:xfrm>
            <a:off x="7696200" y="3675888"/>
            <a:ext cx="230428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ясно небе → облаци → светлина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item 4 card">
            <a:extLst>
              <a:ext uri="{FF2B5EF4-FFF2-40B4-BE49-F238E27FC236}">
                <a16:creationId xmlns:a16="http://schemas.microsoft.com/office/drawing/2014/main" id="{F8124913-7064-271D-96B3-A30A734821FC}"/>
              </a:ext>
            </a:extLst>
          </p:cNvPr>
          <p:cNvSpPr/>
          <p:nvPr/>
        </p:nvSpPr>
        <p:spPr>
          <a:xfrm>
            <a:off x="1981200" y="4407408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item 4 circle">
            <a:extLst>
              <a:ext uri="{FF2B5EF4-FFF2-40B4-BE49-F238E27FC236}">
                <a16:creationId xmlns:a16="http://schemas.microsoft.com/office/drawing/2014/main" id="{E3B06031-BFE1-8A49-CF44-818347F86596}"/>
              </a:ext>
            </a:extLst>
          </p:cNvPr>
          <p:cNvSpPr/>
          <p:nvPr/>
        </p:nvSpPr>
        <p:spPr>
          <a:xfrm>
            <a:off x="2090928" y="449884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item 4 label">
            <a:extLst>
              <a:ext uri="{FF2B5EF4-FFF2-40B4-BE49-F238E27FC236}">
                <a16:creationId xmlns:a16="http://schemas.microsoft.com/office/drawing/2014/main" id="{FEE592C4-E732-A9ED-8B7E-0BE2A2C59EDB}"/>
              </a:ext>
            </a:extLst>
          </p:cNvPr>
          <p:cNvSpPr txBox="1"/>
          <p:nvPr/>
        </p:nvSpPr>
        <p:spPr>
          <a:xfrm>
            <a:off x="2090928" y="44988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6" name="item 4 title">
            <a:extLst>
              <a:ext uri="{FF2B5EF4-FFF2-40B4-BE49-F238E27FC236}">
                <a16:creationId xmlns:a16="http://schemas.microsoft.com/office/drawing/2014/main" id="{6EA5CE64-8F29-1A56-1AB7-DFF6B13DC244}"/>
              </a:ext>
            </a:extLst>
          </p:cNvPr>
          <p:cNvSpPr txBox="1"/>
          <p:nvPr/>
        </p:nvSpPr>
        <p:spPr>
          <a:xfrm>
            <a:off x="2529840" y="44531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Най-добър наклон и посока на панелите </a:t>
            </a:r>
            <a:endParaRPr lang="en-US" sz="1200" dirty="0"/>
          </a:p>
        </p:txBody>
      </p:sp>
      <p:sp>
        <p:nvSpPr>
          <p:cNvPr id="57" name="item 4 text">
            <a:extLst>
              <a:ext uri="{FF2B5EF4-FFF2-40B4-BE49-F238E27FC236}">
                <a16:creationId xmlns:a16="http://schemas.microsoft.com/office/drawing/2014/main" id="{2F3BBF0C-A9E3-A1A2-AC43-063D25F1349A}"/>
              </a:ext>
            </a:extLst>
          </p:cNvPr>
          <p:cNvSpPr txBox="1"/>
          <p:nvPr/>
        </p:nvSpPr>
        <p:spPr>
          <a:xfrm>
            <a:off x="2529840" y="4681728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Много хора не знаят дали панелите им са обърнати правилно. Пробвам всички наклони и посоки за цялата година и ако има поне 5% повече ток, сайтът дава съвет как да ги обърнеш.</a:t>
            </a:r>
            <a:endParaRPr lang="en-US" sz="1000" dirty="0"/>
          </a:p>
        </p:txBody>
      </p:sp>
      <p:sp>
        <p:nvSpPr>
          <p:cNvPr id="58" name="item 4 box">
            <a:extLst>
              <a:ext uri="{FF2B5EF4-FFF2-40B4-BE49-F238E27FC236}">
                <a16:creationId xmlns:a16="http://schemas.microsoft.com/office/drawing/2014/main" id="{0419345F-FD06-223B-590A-620160C7242D}"/>
              </a:ext>
            </a:extLst>
          </p:cNvPr>
          <p:cNvSpPr/>
          <p:nvPr/>
        </p:nvSpPr>
        <p:spPr>
          <a:xfrm>
            <a:off x="7604760" y="4480560"/>
            <a:ext cx="2487168" cy="630936"/>
          </a:xfrm>
          <a:prstGeom prst="roundRect">
            <a:avLst>
              <a:gd name="adj" fmla="val 11594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item 4 fact">
            <a:extLst>
              <a:ext uri="{FF2B5EF4-FFF2-40B4-BE49-F238E27FC236}">
                <a16:creationId xmlns:a16="http://schemas.microsoft.com/office/drawing/2014/main" id="{7A5885D5-37C0-C611-90D7-FFD6B3076438}"/>
              </a:ext>
            </a:extLst>
          </p:cNvPr>
          <p:cNvSpPr txBox="1"/>
          <p:nvPr/>
        </p:nvSpPr>
        <p:spPr>
          <a:xfrm>
            <a:off x="7696200" y="4498848"/>
            <a:ext cx="23042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За София най-добре е 35° на юг.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0" name="item 5 card">
            <a:extLst>
              <a:ext uri="{FF2B5EF4-FFF2-40B4-BE49-F238E27FC236}">
                <a16:creationId xmlns:a16="http://schemas.microsoft.com/office/drawing/2014/main" id="{DC494ADC-1F50-BED7-F7B5-318961F2ED75}"/>
              </a:ext>
            </a:extLst>
          </p:cNvPr>
          <p:cNvSpPr/>
          <p:nvPr/>
        </p:nvSpPr>
        <p:spPr>
          <a:xfrm>
            <a:off x="1981200" y="5230368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item 5 circle">
            <a:extLst>
              <a:ext uri="{FF2B5EF4-FFF2-40B4-BE49-F238E27FC236}">
                <a16:creationId xmlns:a16="http://schemas.microsoft.com/office/drawing/2014/main" id="{C1BC86A5-3693-27B1-5A7E-1CB35660E540}"/>
              </a:ext>
            </a:extLst>
          </p:cNvPr>
          <p:cNvSpPr/>
          <p:nvPr/>
        </p:nvSpPr>
        <p:spPr>
          <a:xfrm>
            <a:off x="2090928" y="532180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item 5 label">
            <a:extLst>
              <a:ext uri="{FF2B5EF4-FFF2-40B4-BE49-F238E27FC236}">
                <a16:creationId xmlns:a16="http://schemas.microsoft.com/office/drawing/2014/main" id="{184A0337-DCE9-A62A-FB07-E92F4EC9E979}"/>
              </a:ext>
            </a:extLst>
          </p:cNvPr>
          <p:cNvSpPr txBox="1"/>
          <p:nvPr/>
        </p:nvSpPr>
        <p:spPr>
          <a:xfrm>
            <a:off x="2090928" y="5321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item 5 title">
            <a:extLst>
              <a:ext uri="{FF2B5EF4-FFF2-40B4-BE49-F238E27FC236}">
                <a16:creationId xmlns:a16="http://schemas.microsoft.com/office/drawing/2014/main" id="{58DECA6F-3A89-5CD0-9ABC-751F4333BB84}"/>
              </a:ext>
            </a:extLst>
          </p:cNvPr>
          <p:cNvSpPr txBox="1"/>
          <p:nvPr/>
        </p:nvSpPr>
        <p:spPr>
          <a:xfrm>
            <a:off x="2529840" y="527608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Проверка колко точна е прогнозата </a:t>
            </a:r>
            <a:endParaRPr lang="en-US" sz="1200" dirty="0"/>
          </a:p>
        </p:txBody>
      </p:sp>
      <p:sp>
        <p:nvSpPr>
          <p:cNvPr id="64" name="item 5 text">
            <a:extLst>
              <a:ext uri="{FF2B5EF4-FFF2-40B4-BE49-F238E27FC236}">
                <a16:creationId xmlns:a16="http://schemas.microsoft.com/office/drawing/2014/main" id="{18F6601F-27D9-05E9-DF45-DF1B11BB15ED}"/>
              </a:ext>
            </a:extLst>
          </p:cNvPr>
          <p:cNvSpPr txBox="1"/>
          <p:nvPr/>
        </p:nvSpPr>
        <p:spPr>
          <a:xfrm>
            <a:off x="2529840" y="5504688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За да докажем, че моделът е верен, сравнявам прогнозата с ясно небе и с простото предположение „утре е като днес“ и смятам грешката (RMSE, MAE, Skill).</a:t>
            </a:r>
            <a:endParaRPr lang="en-US" sz="1000" dirty="0"/>
          </a:p>
        </p:txBody>
      </p:sp>
      <p:sp>
        <p:nvSpPr>
          <p:cNvPr id="65" name="item 5 box">
            <a:extLst>
              <a:ext uri="{FF2B5EF4-FFF2-40B4-BE49-F238E27FC236}">
                <a16:creationId xmlns:a16="http://schemas.microsoft.com/office/drawing/2014/main" id="{F7F1D682-84C9-4A35-F9A8-2A62AFE0679F}"/>
              </a:ext>
            </a:extLst>
          </p:cNvPr>
          <p:cNvSpPr/>
          <p:nvPr/>
        </p:nvSpPr>
        <p:spPr>
          <a:xfrm>
            <a:off x="7604760" y="5303520"/>
            <a:ext cx="2487168" cy="630936"/>
          </a:xfrm>
          <a:prstGeom prst="roundRect">
            <a:avLst>
              <a:gd name="adj" fmla="val 11594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item 5 fact">
            <a:extLst>
              <a:ext uri="{FF2B5EF4-FFF2-40B4-BE49-F238E27FC236}">
                <a16:creationId xmlns:a16="http://schemas.microsoft.com/office/drawing/2014/main" id="{0A118037-FBED-72E4-8DB9-C208842C1CD3}"/>
              </a:ext>
            </a:extLst>
          </p:cNvPr>
          <p:cNvSpPr txBox="1"/>
          <p:nvPr/>
        </p:nvSpPr>
        <p:spPr>
          <a:xfrm>
            <a:off x="7696200" y="5321808"/>
            <a:ext cx="23042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RMSE · MAE · Skill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73169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rgbClr val="002060">
                <a:lumMod val="100000"/>
              </a:srgbClr>
            </a:gs>
            <a:gs pos="0">
              <a:srgbClr val="002060"/>
            </a:gs>
            <a:gs pos="100000">
              <a:srgbClr val="1A678E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5DDE2-7516-85B4-AE14-3683C9662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579F2-27F3-0CF3-64ED-020F05747713}"/>
              </a:ext>
            </a:extLst>
          </p:cNvPr>
          <p:cNvSpPr/>
          <p:nvPr/>
        </p:nvSpPr>
        <p:spPr>
          <a:xfrm flipH="1" flipV="1">
            <a:off x="0" y="0"/>
            <a:ext cx="12192000" cy="6858000"/>
          </a:xfrm>
          <a:custGeom>
            <a:avLst/>
            <a:gdLst>
              <a:gd name="csX0" fmla="*/ 0 w 12192000"/>
              <a:gd name="csY0" fmla="*/ 6858000 h 6858000"/>
              <a:gd name="csX1" fmla="*/ 12192000 w 12192000"/>
              <a:gd name="csY1" fmla="*/ 6858000 h 6858000"/>
              <a:gd name="csX2" fmla="*/ 12192000 w 12192000"/>
              <a:gd name="csY2" fmla="*/ 0 h 6858000"/>
              <a:gd name="csX3" fmla="*/ 0 w 12192000"/>
              <a:gd name="csY3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5000">
                <a:srgbClr val="002060"/>
              </a:gs>
              <a:gs pos="0">
                <a:srgbClr val="002060"/>
              </a:gs>
              <a:gs pos="100000">
                <a:srgbClr val="1A67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544A6-3A43-0327-5A89-EEED8F02C8A5}"/>
              </a:ext>
            </a:extLst>
          </p:cNvPr>
          <p:cNvSpPr txBox="1"/>
          <p:nvPr/>
        </p:nvSpPr>
        <p:spPr>
          <a:xfrm>
            <a:off x="-73152" y="3246120"/>
            <a:ext cx="12265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400" b="1" dirty="0">
                <a:solidFill>
                  <a:srgbClr val="FFC000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БЛАГОТВОРИМ ЗА ОТДЕЛЕНОТО ВРЕМЕ</a:t>
            </a:r>
            <a:endParaRPr lang="en-US" sz="4400" b="1" dirty="0">
              <a:solidFill>
                <a:srgbClr val="FFC000"/>
              </a:solidFill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77893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801</Words>
  <Application>Microsoft Office PowerPoint</Application>
  <PresentationFormat>Widescreen</PresentationFormat>
  <Paragraphs>113</Paragraphs>
  <Slides>11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Black</vt:lpstr>
      <vt:lpstr>Artifakt Element Heavy</vt:lpstr>
      <vt:lpstr>Calibri</vt:lpstr>
      <vt:lpstr>Calibri Light</vt:lpstr>
      <vt:lpstr>IBM Plex Mono</vt:lpstr>
      <vt:lpstr>IBM Plex Sans</vt:lpstr>
      <vt:lpstr>inherit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Pokemo Biker</dc:creator>
  <cp:lastModifiedBy>Pokemo Biker</cp:lastModifiedBy>
  <cp:revision>1</cp:revision>
  <dcterms:created xsi:type="dcterms:W3CDTF">2026-10-04T06:32:23Z</dcterms:created>
  <dcterms:modified xsi:type="dcterms:W3CDTF">2026-10-04T09:17:16Z</dcterms:modified>
</cp:coreProperties>
</file>