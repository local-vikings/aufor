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media1.mp4" ContentType="video/mp4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46D477F-9DF5-4948-8C83-8FF239B5B729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3702D02-E834-4B89-9B11-552EDDF41C3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FA6072-7B14-4CC7-A80C-7E443A3C8E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6EA08C-0034-4570-8FBB-873B130F68E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7CAFBC-4B2B-4373-994E-0721F4D0C0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1CE3DE-3C39-42D2-9692-58DFECDC06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51668B-CEA3-423A-AAA2-AF2F0D0F64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2D5F71-7339-476D-8FF2-C4C7CD6EF6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628D5C-471C-4C16-9029-1B4E2E9C9E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AD425D-FC24-46EC-8D28-03C7302A99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FEB445-0088-42F5-95FB-A1C3033FF4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A5B337-9CF2-45FC-A802-1C7E903041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1BF413-2D76-461B-8618-762AC6E35F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70" name="TextBox 3"/>
          <p:cNvSpPr/>
          <p:nvPr/>
        </p:nvSpPr>
        <p:spPr>
          <a:xfrm>
            <a:off x="666000" y="3551400"/>
            <a:ext cx="5095440" cy="186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1500" b="0" u="none" strike="noStrike">
                <a:solidFill>
                  <a:schemeClr val="dk1"/>
                </a:solidFill>
                <a:effectLst/>
                <a:uFillTx/>
                <a:latin typeface="Arial Black"/>
              </a:rPr>
              <a:t>AuFor</a:t>
            </a:r>
            <a:endParaRPr lang="en-GB" sz="1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663120" y="5013360"/>
            <a:ext cx="309600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Направено от: Local Vikings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9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Class="mediacall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6334" fill="hold"/>
                                        <p:tgtEl>
                                          <p:spTgt spid="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69"/>
                </p:tgtEl>
              </p:cMediaNode>
            </p:video>
            <p:seq>
              <p:cTn id="13" restart="whenNotActive" fill="hold" nodeType="interactiveSeq">
                <p:stCondLst>
                  <p:cond delay="0" evt="onClick">
                    <p:tgtEl>
                      <p:spTgt spid="69"/>
                    </p:tgtEl>
                  </p:cond>
                </p:stCondLst>
                <p:childTnLst>
                  <p:par>
                    <p:cTn id="14" fill="hold">
                      <p:stCondLst>
                        <p:cond delay="0" evt="onClick">
                          <p:tgtEl>
                            <p:spTgt spid="69"/>
                          </p:tgtEl>
                        </p:cond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mediacall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6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5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Parallelogram 14"/>
          <p:cNvSpPr/>
          <p:nvPr/>
        </p:nvSpPr>
        <p:spPr>
          <a:xfrm flipV="1">
            <a:off x="3711600" y="-720"/>
            <a:ext cx="28380600" cy="6857640"/>
          </a:xfrm>
          <a:prstGeom prst="parallelogram">
            <a:avLst>
              <a:gd name="adj" fmla="val 37781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Rectangle 17"/>
          <p:cNvSpPr/>
          <p:nvPr/>
        </p:nvSpPr>
        <p:spPr>
          <a:xfrm>
            <a:off x="12192120" y="-4041000"/>
            <a:ext cx="20981520" cy="13656600"/>
          </a:xfrm>
          <a:prstGeom prst="rect">
            <a:avLst/>
          </a:prstGeom>
          <a:solidFill>
            <a:srgbClr val="4472C4"/>
          </a:solidFill>
          <a:ln>
            <a:solidFill>
              <a:srgbClr val="1D3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4"/>
          <p:cNvSpPr/>
          <p:nvPr/>
        </p:nvSpPr>
        <p:spPr>
          <a:xfrm>
            <a:off x="5977800" y="1720800"/>
            <a:ext cx="5608440" cy="341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AuFor</a:t>
            </a:r>
            <a:r>
              <a:rPr lang="bg-BG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е</a:t>
            </a:r>
            <a:r>
              <a:rPr lang="bg-BG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проект за прогнозиране и оптимизиране на слънчевата енергия, който помага да се предвиди производството на енергия и да се реши кога да се използва, съхранява или изнася. Той съчетава метеорологични данни, соларна физика и симулация на батерия, за да предоставя точни прогнози и практични препоръки.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6"/>
          <p:cNvSpPr/>
          <p:nvPr/>
        </p:nvSpPr>
        <p:spPr>
          <a:xfrm>
            <a:off x="5372280" y="475560"/>
            <a:ext cx="681948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bg-BG" sz="4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Какво представлява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1750"/>
    </mc:Choice>
    <mc:Fallback>
      <p:transition spd="slow"/>
    </mc:Fallback>
  </mc:AlternateContent>
  <p:timing>
    <p:tnLst>
      <p:par>
        <p:cTn id="18" dur="indefinite" restart="never" nodeType="tmRoot">
          <p:childTnLst>
            <p:seq>
              <p:cTn id="19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fill="hold" nodeType="withEffect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path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E">
                                      <p:cBhvr>
                                        <p:cTn id="3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2060"/>
            </a:gs>
            <a:gs pos="67000">
              <a:srgbClr val="002060"/>
            </a:gs>
            <a:gs pos="100000">
              <a:srgbClr val="1A678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: Shape 29"/>
          <p:cNvSpPr/>
          <p:nvPr/>
        </p:nvSpPr>
        <p:spPr>
          <a:xfrm flipV="1">
            <a:off x="0" y="-72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-360 h 6857640"/>
              <a:gd name="textAreaBottom" fmla="*/ 6857640 h 6857640"/>
              <a:gd name="GluePoint1X" fmla="*/ 0 w 12192000"/>
              <a:gd name="GluePoint1Y" fmla="*/ 6858000 h 6858000"/>
              <a:gd name="GluePoint2X" fmla="*/ 12192000 w 12192000"/>
              <a:gd name="GluePoint2Y" fmla="*/ 6858000 h 6858000"/>
              <a:gd name="GluePoint3X" fmla="*/ 12192000 w 12192000"/>
              <a:gd name="GluePoint3Y" fmla="*/ 0 h 6858000"/>
              <a:gd name="GluePoint4X" fmla="*/ 0 w 12192000"/>
              <a:gd name="GluePoint4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2060"/>
              </a:gs>
              <a:gs pos="25000">
                <a:srgbClr val="002060"/>
              </a:gs>
              <a:gs pos="100000">
                <a:srgbClr val="1A678E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1"/>
          <p:cNvSpPr/>
          <p:nvPr/>
        </p:nvSpPr>
        <p:spPr>
          <a:xfrm>
            <a:off x="918000" y="710280"/>
            <a:ext cx="108828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4F1EA"/>
                </a:solidFill>
                <a:effectLst/>
                <a:uFillTx/>
                <a:latin typeface="Calibri"/>
                <a:ea typeface="Manrope"/>
              </a:rPr>
              <a:t>Защо Python за сървъра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1078200" y="2654640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1243800" y="2655360"/>
            <a:ext cx="45252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Готови библиотеки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1243800" y="2924640"/>
            <a:ext cx="45252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pvlib, numpy и pandas: слънчевата физика и проверките не се пишат от нулата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>
            <a:off x="1078200" y="3513240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6"/>
          <p:cNvSpPr/>
          <p:nvPr/>
        </p:nvSpPr>
        <p:spPr>
          <a:xfrm>
            <a:off x="1243800" y="3513960"/>
            <a:ext cx="45252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FastAPI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1243800" y="3782880"/>
            <a:ext cx="45252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Бърз API, автоматична проверка на входните данни и документация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1078200" y="4371840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9"/>
          <p:cNvSpPr/>
          <p:nvPr/>
        </p:nvSpPr>
        <p:spPr>
          <a:xfrm>
            <a:off x="1243800" y="4372200"/>
            <a:ext cx="45252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Имплеметация на C++ кода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1243800" y="4641480"/>
            <a:ext cx="452520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Тежката математика е в C++ ядрото на Свет; Python само го извиква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4"/>
          <p:cNvSpPr/>
          <p:nvPr/>
        </p:nvSpPr>
        <p:spPr>
          <a:xfrm>
            <a:off x="6422760" y="2655000"/>
            <a:ext cx="4851360" cy="2169720"/>
          </a:xfrm>
          <a:prstGeom prst="roundRect">
            <a:avLst>
              <a:gd name="adj" fmla="val 4535"/>
            </a:avLst>
          </a:prstGeom>
          <a:solidFill>
            <a:srgbClr val="17263D"/>
          </a:solidFill>
          <a:ln w="6350">
            <a:solidFill>
              <a:srgbClr val="2A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03040" tIns="203040" rIns="47880" bIns="17748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2B544"/>
                </a:solidFill>
                <a:effectLst/>
                <a:uFillTx/>
                <a:latin typeface="IBM Plex Mono"/>
                <a:ea typeface="IBM Plex Mono"/>
              </a:rPr>
              <a:t>@router.post</a:t>
            </a: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("/forecast")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FB4F5"/>
                </a:solidFill>
                <a:effectLst/>
                <a:uFillTx/>
                <a:latin typeface="IBM Plex Mono"/>
                <a:ea typeface="IBM Plex Mono"/>
              </a:rPr>
              <a:t>def</a:t>
            </a: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 forecast(req):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    weather = fetch_weather(req)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    pr = calibration.load(key).pr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    result = build_forecast(req, weather, pr)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    state = calibration.update(key, result)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    </a:t>
            </a:r>
            <a:r>
              <a:rPr lang="en-US" sz="1200" b="0" u="none" strike="noStrike">
                <a:solidFill>
                  <a:srgbClr val="7FB4F5"/>
                </a:solidFill>
                <a:effectLst/>
                <a:uFillTx/>
                <a:latin typeface="IBM Plex Mono"/>
                <a:ea typeface="IBM Plex Mono"/>
              </a:rPr>
              <a:t>return</a:t>
            </a: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Mono"/>
                <a:ea typeface="IBM Plex Mono"/>
              </a:rPr>
              <a:t> response(result, state)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5"/>
          <p:cNvSpPr/>
          <p:nvPr/>
        </p:nvSpPr>
        <p:spPr>
          <a:xfrm>
            <a:off x="6692040" y="4814640"/>
            <a:ext cx="5807160" cy="2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62500" lnSpcReduction="19999"/>
          </a:bodyPr>
          <a:p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2060"/>
            </a:gs>
            <a:gs pos="67000">
              <a:srgbClr val="002060"/>
            </a:gs>
            <a:gs pos="100000">
              <a:srgbClr val="1A678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Freeform: Shape 40"/>
          <p:cNvSpPr/>
          <p:nvPr/>
        </p:nvSpPr>
        <p:spPr>
          <a:xfrm flipV="1">
            <a:off x="0" y="-72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-360 h 6857640"/>
              <a:gd name="textAreaBottom" fmla="*/ 6857640 h 6857640"/>
              <a:gd name="GluePoint1X" fmla="*/ 0 w 12192000"/>
              <a:gd name="GluePoint1Y" fmla="*/ 6858000 h 6858000"/>
              <a:gd name="GluePoint2X" fmla="*/ 12192000 w 12192000"/>
              <a:gd name="GluePoint2Y" fmla="*/ 6858000 h 6858000"/>
              <a:gd name="GluePoint3X" fmla="*/ 12192000 w 12192000"/>
              <a:gd name="GluePoint3Y" fmla="*/ 0 h 6858000"/>
              <a:gd name="GluePoint4X" fmla="*/ 0 w 12192000"/>
              <a:gd name="GluePoint4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2060"/>
              </a:gs>
              <a:gs pos="25000">
                <a:srgbClr val="002060"/>
              </a:gs>
              <a:gs pos="100000">
                <a:srgbClr val="1A678E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1"/>
          <p:cNvSpPr/>
          <p:nvPr/>
        </p:nvSpPr>
        <p:spPr>
          <a:xfrm>
            <a:off x="828000" y="992880"/>
            <a:ext cx="108828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Ка</a:t>
            </a:r>
            <a:r>
              <a:rPr lang="bg-BG" sz="4400" b="1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к създадохме</a:t>
            </a: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Manrope"/>
                <a:ea typeface="Manrope"/>
              </a:rPr>
              <a:t> Backend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745560" y="2451600"/>
            <a:ext cx="360" cy="68076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"/>
          <p:cNvSpPr/>
          <p:nvPr/>
        </p:nvSpPr>
        <p:spPr>
          <a:xfrm>
            <a:off x="911160" y="2452320"/>
            <a:ext cx="4002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IBM Plex Sans"/>
                <a:ea typeface="IBM Plex Sans"/>
              </a:rPr>
              <a:t>FastAPI сървър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4"/>
          <p:cNvSpPr/>
          <p:nvPr/>
        </p:nvSpPr>
        <p:spPr>
          <a:xfrm>
            <a:off x="911160" y="2721600"/>
            <a:ext cx="40021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API за прогноза, показания, облачна карта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5"/>
          <p:cNvSpPr/>
          <p:nvPr/>
        </p:nvSpPr>
        <p:spPr>
          <a:xfrm>
            <a:off x="745560" y="3285000"/>
            <a:ext cx="360" cy="68040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6"/>
          <p:cNvSpPr/>
          <p:nvPr/>
        </p:nvSpPr>
        <p:spPr>
          <a:xfrm>
            <a:off x="911160" y="3285360"/>
            <a:ext cx="4002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IBM Plex Sans"/>
                <a:ea typeface="IBM Plex Sans"/>
              </a:rPr>
              <a:t>Прогнозен pipeline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7"/>
          <p:cNvSpPr/>
          <p:nvPr/>
        </p:nvSpPr>
        <p:spPr>
          <a:xfrm>
            <a:off x="911160" y="3554640"/>
            <a:ext cx="40021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Време към prediction физика (C++) към симулация на батерия и от това съвети, в една заявка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8"/>
          <p:cNvSpPr/>
          <p:nvPr/>
        </p:nvSpPr>
        <p:spPr>
          <a:xfrm>
            <a:off x="745560" y="4118040"/>
            <a:ext cx="360" cy="68076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9"/>
          <p:cNvSpPr/>
          <p:nvPr/>
        </p:nvSpPr>
        <p:spPr>
          <a:xfrm>
            <a:off x="911160" y="4118400"/>
            <a:ext cx="4002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IBM Plex Sans"/>
                <a:ea typeface="IBM Plex Sans"/>
              </a:rPr>
              <a:t>Симулации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0"/>
          <p:cNvSpPr/>
          <p:nvPr/>
        </p:nvSpPr>
        <p:spPr>
          <a:xfrm>
            <a:off x="911160" y="4387680"/>
            <a:ext cx="40021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Батерия час по час; симулирани показания за демото, винаги с етикет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1"/>
          <p:cNvSpPr/>
          <p:nvPr/>
        </p:nvSpPr>
        <p:spPr>
          <a:xfrm>
            <a:off x="745560" y="4951080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2"/>
          <p:cNvSpPr/>
          <p:nvPr/>
        </p:nvSpPr>
        <p:spPr>
          <a:xfrm>
            <a:off x="911160" y="4951440"/>
            <a:ext cx="4002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IBM Plex Sans"/>
                <a:ea typeface="IBM Plex Sans"/>
              </a:rPr>
              <a:t>Калибриране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3"/>
          <p:cNvSpPr/>
          <p:nvPr/>
        </p:nvSpPr>
        <p:spPr>
          <a:xfrm>
            <a:off x="911160" y="5220720"/>
            <a:ext cx="40021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Реални данни от сензори и камера правят прогнозата по-точна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4"/>
          <p:cNvSpPr/>
          <p:nvPr/>
        </p:nvSpPr>
        <p:spPr>
          <a:xfrm>
            <a:off x="5672880" y="2334600"/>
            <a:ext cx="5772960" cy="35578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Image 0" descr="Схема на AuFor: входни данни, сървърът с pipeline, батерия, съвети и калибриране, и какво вижда потребителят"/>
          <p:cNvSpPr/>
          <p:nvPr/>
        </p:nvSpPr>
        <p:spPr>
          <a:xfrm>
            <a:off x="5678280" y="2340720"/>
            <a:ext cx="5761080" cy="3545280"/>
          </a:xfrm>
          <a:prstGeom prst="roundRect">
            <a:avLst>
              <a:gd name="adj" fmla="val 2595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5"/>
          <p:cNvSpPr/>
          <p:nvPr/>
        </p:nvSpPr>
        <p:spPr>
          <a:xfrm>
            <a:off x="5675400" y="2337840"/>
            <a:ext cx="5766840" cy="3551760"/>
          </a:xfrm>
          <a:prstGeom prst="roundRect">
            <a:avLst>
              <a:gd name="adj" fmla="val 2677"/>
            </a:avLst>
          </a:prstGeom>
          <a:noFill/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2060"/>
            </a:gs>
            <a:gs pos="67000">
              <a:srgbClr val="002060"/>
            </a:gs>
            <a:gs pos="100000">
              <a:srgbClr val="1A678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: Shape 40"/>
          <p:cNvSpPr/>
          <p:nvPr/>
        </p:nvSpPr>
        <p:spPr>
          <a:xfrm flipV="1">
            <a:off x="0" y="-72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-360 h 6857640"/>
              <a:gd name="textAreaBottom" fmla="*/ 6857640 h 6857640"/>
              <a:gd name="GluePoint1X" fmla="*/ 0 w 12192000"/>
              <a:gd name="GluePoint1Y" fmla="*/ 6858000 h 6858000"/>
              <a:gd name="GluePoint2X" fmla="*/ 12192000 w 12192000"/>
              <a:gd name="GluePoint2Y" fmla="*/ 6858000 h 6858000"/>
              <a:gd name="GluePoint3X" fmla="*/ 12192000 w 12192000"/>
              <a:gd name="GluePoint3Y" fmla="*/ 0 h 6858000"/>
              <a:gd name="GluePoint4X" fmla="*/ 0 w 12192000"/>
              <a:gd name="GluePoint4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2060"/>
              </a:gs>
              <a:gs pos="25000">
                <a:srgbClr val="002060"/>
              </a:gs>
              <a:gs pos="100000">
                <a:srgbClr val="1A678E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1"/>
          <p:cNvSpPr/>
          <p:nvPr/>
        </p:nvSpPr>
        <p:spPr>
          <a:xfrm>
            <a:off x="654480" y="795960"/>
            <a:ext cx="108828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4F1EA"/>
                </a:solidFill>
                <a:effectLst/>
                <a:uFillTx/>
                <a:latin typeface="Manrope"/>
                <a:ea typeface="Manrope"/>
              </a:rPr>
              <a:t>Защо HTML, CSS и JavaScript</a:t>
            </a:r>
            <a:endParaRPr lang="en-GB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755280" y="2153880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920520" y="2154600"/>
            <a:ext cx="4002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Без build стъпка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920520" y="2423880"/>
            <a:ext cx="40021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Сървърът дава страницата директно: промяна, презареждане, готово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755280" y="3012480"/>
            <a:ext cx="360" cy="47484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920520" y="3013200"/>
            <a:ext cx="4002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Работи навсякъде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920520" y="3282120"/>
            <a:ext cx="400212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Всеки браузър и телефон, без инсталация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755280" y="3665160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920520" y="3665880"/>
            <a:ext cx="4002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Пълен контрол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920520" y="3935160"/>
            <a:ext cx="40021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Облаците и вятърът се рисуват директно върху canvas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755280" y="4523760"/>
            <a:ext cx="360" cy="68076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920520" y="4524480"/>
            <a:ext cx="40021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4F1EA"/>
                </a:solidFill>
                <a:effectLst/>
                <a:uFillTx/>
                <a:latin typeface="IBM Plex Sans"/>
                <a:ea typeface="IBM Plex Sans"/>
              </a:rPr>
              <a:t>Малко и бързо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920520" y="4793400"/>
            <a:ext cx="40021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BCC7D6"/>
                </a:solidFill>
                <a:effectLst/>
                <a:uFillTx/>
                <a:latin typeface="IBM Plex Sans"/>
                <a:ea typeface="IBM Plex Sans"/>
              </a:rPr>
              <a:t>Без framework: само Leaflet за картата и Chart.js за графиките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Image 0" descr="Калкулаторът на AuFor в светла тема: карта с ивици на вятъра и профилът на системата вдясно"/>
          <p:cNvSpPr/>
          <p:nvPr/>
        </p:nvSpPr>
        <p:spPr>
          <a:xfrm>
            <a:off x="5673240" y="2160720"/>
            <a:ext cx="5763240" cy="3005640"/>
          </a:xfrm>
          <a:prstGeom prst="roundRect">
            <a:avLst>
              <a:gd name="adj" fmla="val 3099"/>
            </a:avLst>
          </a:prstGeom>
          <a:blipFill rotWithShape="0">
            <a:blip r:embed="rId1"/>
            <a:srcRect/>
            <a:stretch/>
          </a:blipFill>
          <a:ln w="0">
            <a:noFill/>
          </a:ln>
          <a:effectLst>
            <a:outerShdw algn="bl" blurRad="406440" dir="5400000" dist="152280" rotWithShape="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4"/>
          <p:cNvSpPr/>
          <p:nvPr/>
        </p:nvSpPr>
        <p:spPr>
          <a:xfrm>
            <a:off x="5667120" y="2154240"/>
            <a:ext cx="5769360" cy="3011760"/>
          </a:xfrm>
          <a:prstGeom prst="roundRect">
            <a:avLst>
              <a:gd name="adj" fmla="val 3196"/>
            </a:avLst>
          </a:prstGeom>
          <a:noFill/>
          <a:ln w="6350">
            <a:solidFill>
              <a:srgbClr val="2A3A5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2060"/>
            </a:gs>
            <a:gs pos="67000">
              <a:srgbClr val="002060"/>
            </a:gs>
            <a:gs pos="100000">
              <a:srgbClr val="1A678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Freeform: Shape 4"/>
          <p:cNvSpPr/>
          <p:nvPr/>
        </p:nvSpPr>
        <p:spPr>
          <a:xfrm flipH="1" flipV="1">
            <a:off x="0" y="-360"/>
            <a:ext cx="12191760" cy="6857640"/>
          </a:xfrm>
          <a:custGeom>
            <a:avLst/>
            <a:gdLst>
              <a:gd name="textAreaLeft" fmla="*/ 360 w 12191760"/>
              <a:gd name="textAreaRight" fmla="*/ 12192480 w 12191760"/>
              <a:gd name="textAreaTop" fmla="*/ -360 h 6857640"/>
              <a:gd name="textAreaBottom" fmla="*/ 6857640 h 6857640"/>
              <a:gd name="GluePoint1X" fmla="*/ 0 w 12192000"/>
              <a:gd name="GluePoint1Y" fmla="*/ 6858000 h 6858000"/>
              <a:gd name="GluePoint2X" fmla="*/ 12192000 w 12192000"/>
              <a:gd name="GluePoint2Y" fmla="*/ 6858000 h 6858000"/>
              <a:gd name="GluePoint3X" fmla="*/ 12192000 w 12192000"/>
              <a:gd name="GluePoint3Y" fmla="*/ 0 h 6858000"/>
              <a:gd name="GluePoint4X" fmla="*/ 0 w 12192000"/>
              <a:gd name="GluePoint4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2060"/>
              </a:gs>
              <a:gs pos="25000">
                <a:srgbClr val="002060"/>
              </a:gs>
              <a:gs pos="100000">
                <a:srgbClr val="1A678E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PlaceHolder 1"/>
          <p:cNvSpPr/>
          <p:nvPr/>
        </p:nvSpPr>
        <p:spPr>
          <a:xfrm>
            <a:off x="657720" y="977040"/>
            <a:ext cx="1088280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396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Manrope"/>
              </a:rPr>
              <a:t>Какво построих</a:t>
            </a:r>
            <a:r>
              <a:rPr lang="bg-BG" sz="4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Manrope"/>
              </a:rPr>
              <a:t>ме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Image 0" descr="Картата с анимиран поток на вятъра и стрелки над облачната прогноза"/>
          <p:cNvSpPr/>
          <p:nvPr/>
        </p:nvSpPr>
        <p:spPr>
          <a:xfrm>
            <a:off x="660600" y="2080440"/>
            <a:ext cx="6082560" cy="3796560"/>
          </a:xfrm>
          <a:prstGeom prst="roundRect">
            <a:avLst>
              <a:gd name="adj" fmla="val 2508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"/>
          <p:cNvSpPr/>
          <p:nvPr/>
        </p:nvSpPr>
        <p:spPr>
          <a:xfrm>
            <a:off x="657720" y="2077560"/>
            <a:ext cx="6089040" cy="3803040"/>
          </a:xfrm>
          <a:prstGeom prst="roundRect">
            <a:avLst>
              <a:gd name="adj" fmla="val 2588"/>
            </a:avLst>
          </a:prstGeom>
          <a:noFill/>
          <a:ln w="6350">
            <a:solidFill>
              <a:srgbClr val="DDD8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3"/>
          <p:cNvSpPr/>
          <p:nvPr/>
        </p:nvSpPr>
        <p:spPr>
          <a:xfrm>
            <a:off x="7118280" y="2594880"/>
            <a:ext cx="360" cy="68076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4"/>
          <p:cNvSpPr/>
          <p:nvPr/>
        </p:nvSpPr>
        <p:spPr>
          <a:xfrm>
            <a:off x="7283880" y="2595600"/>
            <a:ext cx="405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IBM Plex Sans"/>
                <a:ea typeface="IBM Plex Sans"/>
              </a:rPr>
              <a:t>Карта на облаци и вятър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7283880" y="2864880"/>
            <a:ext cx="40543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Слой, който следва изгледа: облаци, стрелки, анимиран поток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7118280" y="3453480"/>
            <a:ext cx="360" cy="47484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7283880" y="3454200"/>
            <a:ext cx="405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IBM Plex Sans"/>
                <a:ea typeface="IBM Plex Sans"/>
              </a:rPr>
              <a:t>Времева лента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8"/>
          <p:cNvSpPr/>
          <p:nvPr/>
        </p:nvSpPr>
        <p:spPr>
          <a:xfrm>
            <a:off x="7283880" y="3723120"/>
            <a:ext cx="405432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7 дни напред; графиките и картата са свързани по час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9"/>
          <p:cNvSpPr/>
          <p:nvPr/>
        </p:nvSpPr>
        <p:spPr>
          <a:xfrm>
            <a:off x="7118280" y="4106160"/>
            <a:ext cx="360" cy="680760"/>
          </a:xfrm>
          <a:prstGeom prst="line">
            <a:avLst/>
          </a:prstGeom>
          <a:ln w="25400">
            <a:solidFill>
              <a:srgbClr val="0A5FC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0"/>
          <p:cNvSpPr/>
          <p:nvPr/>
        </p:nvSpPr>
        <p:spPr>
          <a:xfrm>
            <a:off x="7283880" y="4106880"/>
            <a:ext cx="405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IBM Plex Sans"/>
                <a:ea typeface="IBM Plex Sans"/>
              </a:rPr>
              <a:t>Резултати и съвети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7283880" y="4376160"/>
            <a:ext cx="4054320" cy="43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Графики, карти със съвети, живи показания на 10 секунди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7118280" y="4964760"/>
            <a:ext cx="360" cy="475200"/>
          </a:xfrm>
          <a:prstGeom prst="line">
            <a:avLst/>
          </a:prstGeom>
          <a:ln w="25400">
            <a:solidFill>
              <a:srgbClr val="F2B5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7283880" y="4965480"/>
            <a:ext cx="405432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91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IBM Plex Sans"/>
                <a:ea typeface="IBM Plex Sans"/>
              </a:rPr>
              <a:t>За всеки екран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7283880" y="5234400"/>
            <a:ext cx="405432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ts val="1621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IBM Plex Sans"/>
                <a:ea typeface="IBM Plex Sans"/>
              </a:rPr>
              <a:t>Светла и тъмна тема, изглед за телефон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2060"/>
            </a:gs>
            <a:gs pos="67000">
              <a:srgbClr val="002060"/>
            </a:gs>
            <a:gs pos="100000">
              <a:srgbClr val="1A678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: Rounded Corners 21"/>
          <p:cNvSpPr/>
          <p:nvPr/>
        </p:nvSpPr>
        <p:spPr>
          <a:xfrm>
            <a:off x="5775840" y="5215680"/>
            <a:ext cx="4480200" cy="51732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reeform: Shape 4"/>
          <p:cNvSpPr/>
          <p:nvPr/>
        </p:nvSpPr>
        <p:spPr>
          <a:xfrm flipH="1" flipV="1">
            <a:off x="0" y="-360"/>
            <a:ext cx="12191760" cy="6857640"/>
          </a:xfrm>
          <a:custGeom>
            <a:avLst/>
            <a:gdLst>
              <a:gd name="textAreaLeft" fmla="*/ 360 w 12191760"/>
              <a:gd name="textAreaRight" fmla="*/ 12192480 w 12191760"/>
              <a:gd name="textAreaTop" fmla="*/ -360 h 6857640"/>
              <a:gd name="textAreaBottom" fmla="*/ 6857640 h 6857640"/>
              <a:gd name="GluePoint1X" fmla="*/ 0 w 12192000"/>
              <a:gd name="GluePoint1Y" fmla="*/ 6858000 h 6858000"/>
              <a:gd name="GluePoint2X" fmla="*/ 12192000 w 12192000"/>
              <a:gd name="GluePoint2Y" fmla="*/ 6858000 h 6858000"/>
              <a:gd name="GluePoint3X" fmla="*/ 12192000 w 12192000"/>
              <a:gd name="GluePoint3Y" fmla="*/ 0 h 6858000"/>
              <a:gd name="GluePoint4X" fmla="*/ 0 w 12192000"/>
              <a:gd name="GluePoint4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2060"/>
              </a:gs>
              <a:gs pos="25000">
                <a:srgbClr val="002060"/>
              </a:gs>
              <a:gs pos="100000">
                <a:srgbClr val="1A678E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1862280" y="9691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bg-BG" sz="4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П</a:t>
            </a: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редсказва</a:t>
            </a:r>
            <a:r>
              <a:rPr lang="bg-BG" sz="4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не</a:t>
            </a: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и работa</a:t>
            </a:r>
            <a:r>
              <a:rPr lang="bg-BG" sz="4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 на </a:t>
            </a: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AI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1935360" y="2189880"/>
            <a:ext cx="127800" cy="127800"/>
          </a:xfrm>
          <a:prstGeom prst="ellipse">
            <a:avLst/>
          </a:prstGeom>
          <a:solidFill>
            <a:srgbClr val="FFC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2209680" y="2080440"/>
            <a:ext cx="3382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Цел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Да оценим слънчевата светлина към соларните панели за 5 минути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1935360" y="3087360"/>
            <a:ext cx="127800" cy="127800"/>
          </a:xfrm>
          <a:prstGeom prst="ellipse">
            <a:avLst/>
          </a:prstGeom>
          <a:solidFill>
            <a:srgbClr val="FFC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2209680" y="2977560"/>
            <a:ext cx="3382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Какво прави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Рибешка камера гледа нагоре; мрежата маркира всеки пиксел: облак или чисто небе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7"/>
          <p:cNvSpPr/>
          <p:nvPr/>
        </p:nvSpPr>
        <p:spPr>
          <a:xfrm>
            <a:off x="1935360" y="4201560"/>
            <a:ext cx="127800" cy="127800"/>
          </a:xfrm>
          <a:prstGeom prst="ellipse">
            <a:avLst/>
          </a:prstGeom>
          <a:solidFill>
            <a:srgbClr val="FFC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2209680" y="4092120"/>
            <a:ext cx="3382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Как работи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Слънцето се маскира; свободно небе % = 100 − облаци %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1935360" y="5262480"/>
            <a:ext cx="127800" cy="127800"/>
          </a:xfrm>
          <a:prstGeom prst="ellipse">
            <a:avLst/>
          </a:prstGeom>
          <a:solidFill>
            <a:srgbClr val="FFC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2209680" y="5152680"/>
            <a:ext cx="3382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Резултат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Един запис на всеки 5 минути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0" descr="Original sky image"/>
          <p:cNvPicPr/>
          <p:nvPr/>
        </p:nvPicPr>
        <p:blipFill>
          <a:blip r:embed="rId1"/>
          <a:stretch/>
        </p:blipFill>
        <p:spPr>
          <a:xfrm>
            <a:off x="5775840" y="2034720"/>
            <a:ext cx="2194200" cy="146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Image 1" descr="Sky image with analysis circle"/>
          <p:cNvPicPr/>
          <p:nvPr/>
        </p:nvPicPr>
        <p:blipFill>
          <a:blip r:embed="rId2"/>
          <a:stretch/>
        </p:blipFill>
        <p:spPr>
          <a:xfrm>
            <a:off x="8061840" y="2034720"/>
            <a:ext cx="219420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11"/>
          <p:cNvSpPr/>
          <p:nvPr/>
        </p:nvSpPr>
        <p:spPr>
          <a:xfrm>
            <a:off x="5775840" y="352512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Входна снимка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2"/>
          <p:cNvSpPr/>
          <p:nvPr/>
        </p:nvSpPr>
        <p:spPr>
          <a:xfrm>
            <a:off x="8061840" y="3525120"/>
            <a:ext cx="2194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Анализирана област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2" descr="Inference output"/>
          <p:cNvPicPr/>
          <p:nvPr/>
        </p:nvPicPr>
        <p:blipFill>
          <a:blip r:embed="rId3"/>
          <a:stretch/>
        </p:blipFill>
        <p:spPr>
          <a:xfrm>
            <a:off x="5775840" y="3867120"/>
            <a:ext cx="4480200" cy="99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13"/>
          <p:cNvSpPr/>
          <p:nvPr/>
        </p:nvSpPr>
        <p:spPr>
          <a:xfrm>
            <a:off x="5775840" y="4924080"/>
            <a:ext cx="4480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Резултат от модела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4"/>
          <p:cNvSpPr/>
          <p:nvPr/>
        </p:nvSpPr>
        <p:spPr>
          <a:xfrm>
            <a:off x="5775840" y="5235120"/>
            <a:ext cx="4480200" cy="502560"/>
          </a:xfrm>
          <a:prstGeom prst="roundRect">
            <a:avLst>
              <a:gd name="adj" fmla="val 18182"/>
            </a:avLst>
          </a:prstGeom>
          <a:solidFill>
            <a:srgbClr val="FFC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97.7%</a:t>
            </a:r>
            <a:r>
              <a:rPr lang="bg-BG" sz="3200" b="1" u="none" strike="noStrike">
                <a:solidFill>
                  <a:srgbClr val="002060"/>
                </a:solidFill>
                <a:effectLst/>
                <a:uFillTx/>
                <a:latin typeface="Calibri"/>
                <a:ea typeface="Calibri"/>
              </a:rPr>
              <a:t> празно небе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2060"/>
            </a:gs>
            <a:gs pos="67000">
              <a:srgbClr val="002060"/>
            </a:gs>
            <a:gs pos="100000">
              <a:srgbClr val="1A678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Freeform: Shape 4"/>
          <p:cNvSpPr/>
          <p:nvPr/>
        </p:nvSpPr>
        <p:spPr>
          <a:xfrm flipH="1" flipV="1">
            <a:off x="0" y="-360"/>
            <a:ext cx="12191760" cy="6857640"/>
          </a:xfrm>
          <a:custGeom>
            <a:avLst/>
            <a:gdLst>
              <a:gd name="textAreaLeft" fmla="*/ 360 w 12191760"/>
              <a:gd name="textAreaRight" fmla="*/ 12192480 w 12191760"/>
              <a:gd name="textAreaTop" fmla="*/ -360 h 6857640"/>
              <a:gd name="textAreaBottom" fmla="*/ 6857640 h 6857640"/>
              <a:gd name="GluePoint1X" fmla="*/ 0 w 12192000"/>
              <a:gd name="GluePoint1Y" fmla="*/ 6858000 h 6858000"/>
              <a:gd name="GluePoint2X" fmla="*/ 12192000 w 12192000"/>
              <a:gd name="GluePoint2Y" fmla="*/ 6858000 h 6858000"/>
              <a:gd name="GluePoint3X" fmla="*/ 12192000 w 12192000"/>
              <a:gd name="GluePoint3Y" fmla="*/ 0 h 6858000"/>
              <a:gd name="GluePoint4X" fmla="*/ 0 w 12192000"/>
              <a:gd name="GluePoint4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2060"/>
              </a:gs>
              <a:gs pos="25000">
                <a:srgbClr val="002060"/>
              </a:gs>
              <a:gs pos="100000">
                <a:srgbClr val="1A678E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1587960" y="84132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bg-BG" sz="4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Вътрешни процеси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1935360" y="2258640"/>
            <a:ext cx="127800" cy="147960"/>
          </a:xfrm>
          <a:prstGeom prst="ellipse">
            <a:avLst/>
          </a:prstGeom>
          <a:solidFill>
            <a:srgbClr val="F4B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2209680" y="2148840"/>
            <a:ext cx="338292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Размер на входа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Снимката се свива до 384×384 пиксела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935360" y="3099960"/>
            <a:ext cx="127800" cy="147960"/>
          </a:xfrm>
          <a:prstGeom prst="ellipse">
            <a:avLst/>
          </a:prstGeom>
          <a:solidFill>
            <a:srgbClr val="F4B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2209680" y="2990160"/>
            <a:ext cx="338292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Дообучен модел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U-Net + трансформър енкодер, обучен с ImageNet и дообучен върху 818 снимки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7"/>
          <p:cNvSpPr/>
          <p:nvPr/>
        </p:nvSpPr>
        <p:spPr>
          <a:xfrm>
            <a:off x="1935360" y="3940920"/>
            <a:ext cx="127800" cy="147960"/>
          </a:xfrm>
          <a:prstGeom prst="ellipse">
            <a:avLst/>
          </a:prstGeom>
          <a:solidFill>
            <a:srgbClr val="F4B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2209680" y="3831480"/>
            <a:ext cx="338292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Как определя облаците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Слънцето се маскира; за останалото мрежата дава вероятност за облак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9"/>
          <p:cNvSpPr/>
          <p:nvPr/>
        </p:nvSpPr>
        <p:spPr>
          <a:xfrm>
            <a:off x="1935360" y="4782240"/>
            <a:ext cx="127800" cy="147960"/>
          </a:xfrm>
          <a:prstGeom prst="ellipse">
            <a:avLst/>
          </a:prstGeom>
          <a:solidFill>
            <a:srgbClr val="F4B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 10"/>
          <p:cNvSpPr/>
          <p:nvPr/>
        </p:nvSpPr>
        <p:spPr>
          <a:xfrm>
            <a:off x="2209680" y="4672440"/>
            <a:ext cx="338292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Calibri"/>
              </a:rPr>
              <a:t>Optuna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>
                    <a:lumMod val="20000"/>
                    <a:lumOff val="80000"/>
                  </a:schemeClr>
                </a:solidFill>
                <a:effectLst/>
                <a:uFillTx/>
                <a:latin typeface="Calibri"/>
                <a:ea typeface="Calibri"/>
              </a:rPr>
              <a:t>Сам търси най-добрите хиперпараметри: 30 опита, IoU 0.853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Image 0" descr="Optuna tuning log"/>
          <p:cNvPicPr/>
          <p:nvPr/>
        </p:nvPicPr>
        <p:blipFill>
          <a:blip r:embed="rId1"/>
          <a:stretch/>
        </p:blipFill>
        <p:spPr>
          <a:xfrm>
            <a:off x="5775840" y="2103120"/>
            <a:ext cx="4480200" cy="222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Shape 12"/>
          <p:cNvSpPr/>
          <p:nvPr/>
        </p:nvSpPr>
        <p:spPr>
          <a:xfrm>
            <a:off x="5775840" y="4453200"/>
            <a:ext cx="2194200" cy="9140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 13"/>
          <p:cNvSpPr/>
          <p:nvPr/>
        </p:nvSpPr>
        <p:spPr>
          <a:xfrm>
            <a:off x="5775840" y="445320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4B400"/>
                </a:solidFill>
                <a:effectLst/>
                <a:uFillTx/>
                <a:latin typeface="Calibri"/>
                <a:ea typeface="Calibri"/>
              </a:rPr>
              <a:t>0.853</a:t>
            </a:r>
            <a:endParaRPr lang="en-GB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най-добър IoU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4"/>
          <p:cNvSpPr/>
          <p:nvPr/>
        </p:nvSpPr>
        <p:spPr>
          <a:xfrm>
            <a:off x="8061840" y="4453200"/>
            <a:ext cx="2194200" cy="91404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 15"/>
          <p:cNvSpPr/>
          <p:nvPr/>
        </p:nvSpPr>
        <p:spPr>
          <a:xfrm>
            <a:off x="8061840" y="4453200"/>
            <a:ext cx="21942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4B400"/>
                </a:solidFill>
                <a:effectLst/>
                <a:uFillTx/>
                <a:latin typeface="Calibri"/>
                <a:ea typeface="Calibri"/>
              </a:rPr>
              <a:t>0.474</a:t>
            </a:r>
            <a:endParaRPr lang="en-GB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оптимален праг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2060"/>
            </a:gs>
            <a:gs pos="67000">
              <a:srgbClr val="002060"/>
            </a:gs>
            <a:gs pos="100000">
              <a:srgbClr val="1A678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Freeform: Shape 4"/>
          <p:cNvSpPr/>
          <p:nvPr/>
        </p:nvSpPr>
        <p:spPr>
          <a:xfrm flipH="1" flipV="1">
            <a:off x="0" y="-360"/>
            <a:ext cx="12191760" cy="6857640"/>
          </a:xfrm>
          <a:custGeom>
            <a:avLst/>
            <a:gdLst>
              <a:gd name="textAreaLeft" fmla="*/ 360 w 12191760"/>
              <a:gd name="textAreaRight" fmla="*/ 12192480 w 12191760"/>
              <a:gd name="textAreaTop" fmla="*/ -360 h 6857640"/>
              <a:gd name="textAreaBottom" fmla="*/ 6857640 h 6857640"/>
              <a:gd name="GluePoint1X" fmla="*/ 0 w 12192000"/>
              <a:gd name="GluePoint1Y" fmla="*/ 6858000 h 6858000"/>
              <a:gd name="GluePoint2X" fmla="*/ 12192000 w 12192000"/>
              <a:gd name="GluePoint2Y" fmla="*/ 6858000 h 6858000"/>
              <a:gd name="GluePoint3X" fmla="*/ 12192000 w 12192000"/>
              <a:gd name="GluePoint3Y" fmla="*/ 0 h 6858000"/>
              <a:gd name="GluePoint4X" fmla="*/ 0 w 12192000"/>
              <a:gd name="GluePoint4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2060"/>
              </a:gs>
              <a:gs pos="25000">
                <a:srgbClr val="002060"/>
              </a:gs>
              <a:gs pos="100000">
                <a:srgbClr val="1A678E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 0"/>
          <p:cNvSpPr/>
          <p:nvPr/>
        </p:nvSpPr>
        <p:spPr>
          <a:xfrm>
            <a:off x="1038600" y="82368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Какво използва</a:t>
            </a:r>
            <a:r>
              <a:rPr lang="bg-BG" sz="4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хме</a:t>
            </a: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и защо C++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ool 1 circle"/>
          <p:cNvSpPr/>
          <p:nvPr/>
        </p:nvSpPr>
        <p:spPr>
          <a:xfrm>
            <a:off x="1468080" y="2292840"/>
            <a:ext cx="502560" cy="502560"/>
          </a:xfrm>
          <a:prstGeom prst="ellipse">
            <a:avLst/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ool 1 label"/>
          <p:cNvSpPr/>
          <p:nvPr/>
        </p:nvSpPr>
        <p:spPr>
          <a:xfrm>
            <a:off x="1468080" y="2292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ool 1 name"/>
          <p:cNvSpPr/>
          <p:nvPr/>
        </p:nvSpPr>
        <p:spPr>
          <a:xfrm>
            <a:off x="2108160" y="22748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C++17</a:t>
            </a:r>
            <a:endParaRPr lang="en-GB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ool 1 text"/>
          <p:cNvSpPr/>
          <p:nvPr/>
        </p:nvSpPr>
        <p:spPr>
          <a:xfrm>
            <a:off x="2108160" y="25491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Calibri"/>
              </a:rPr>
              <a:t>ядрото с всички формули за слънцето и мощността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ool 2 circle"/>
          <p:cNvSpPr/>
          <p:nvPr/>
        </p:nvSpPr>
        <p:spPr>
          <a:xfrm>
            <a:off x="1468080" y="3006360"/>
            <a:ext cx="502560" cy="502560"/>
          </a:xfrm>
          <a:prstGeom prst="ellipse">
            <a:avLst/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ool 2 label"/>
          <p:cNvSpPr/>
          <p:nvPr/>
        </p:nvSpPr>
        <p:spPr>
          <a:xfrm>
            <a:off x="1468080" y="30063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ool 2 name"/>
          <p:cNvSpPr/>
          <p:nvPr/>
        </p:nvSpPr>
        <p:spPr>
          <a:xfrm>
            <a:off x="2108160" y="29880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Python + ctypes</a:t>
            </a:r>
            <a:endParaRPr lang="en-GB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ool 2 text"/>
          <p:cNvSpPr/>
          <p:nvPr/>
        </p:nvSpPr>
        <p:spPr>
          <a:xfrm>
            <a:off x="2108160" y="32623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Calibri"/>
              </a:rPr>
              <a:t>свързва C++ ядрото със сайта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ool 3 circle"/>
          <p:cNvSpPr/>
          <p:nvPr/>
        </p:nvSpPr>
        <p:spPr>
          <a:xfrm>
            <a:off x="1468080" y="3719520"/>
            <a:ext cx="502560" cy="502560"/>
          </a:xfrm>
          <a:prstGeom prst="ellipse">
            <a:avLst/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ool 3 label"/>
          <p:cNvSpPr/>
          <p:nvPr/>
        </p:nvSpPr>
        <p:spPr>
          <a:xfrm>
            <a:off x="1468080" y="37195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OM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ool 3 name"/>
          <p:cNvSpPr/>
          <p:nvPr/>
        </p:nvSpPr>
        <p:spPr>
          <a:xfrm>
            <a:off x="2108160" y="370116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Open-Meteo</a:t>
            </a:r>
            <a:endParaRPr lang="en-GB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ool 3 text"/>
          <p:cNvSpPr/>
          <p:nvPr/>
        </p:nvSpPr>
        <p:spPr>
          <a:xfrm>
            <a:off x="2108160" y="39754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Calibri"/>
              </a:rPr>
              <a:t>прогноза за слънцето, температурата и облаците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ool 4 circle"/>
          <p:cNvSpPr/>
          <p:nvPr/>
        </p:nvSpPr>
        <p:spPr>
          <a:xfrm>
            <a:off x="1468080" y="4432680"/>
            <a:ext cx="502560" cy="502560"/>
          </a:xfrm>
          <a:prstGeom prst="ellipse">
            <a:avLst/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ool 4 label"/>
          <p:cNvSpPr/>
          <p:nvPr/>
        </p:nvSpPr>
        <p:spPr>
          <a:xfrm>
            <a:off x="1468080" y="44326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pv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ool 4 name"/>
          <p:cNvSpPr/>
          <p:nvPr/>
        </p:nvSpPr>
        <p:spPr>
          <a:xfrm>
            <a:off x="2108160" y="441432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pvlib</a:t>
            </a:r>
            <a:endParaRPr lang="en-GB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ool 4 text"/>
          <p:cNvSpPr/>
          <p:nvPr/>
        </p:nvSpPr>
        <p:spPr>
          <a:xfrm>
            <a:off x="2108160" y="468864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Calibri"/>
              </a:rPr>
              <a:t>научна библиотека, с която проверих резултатите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ool 5 circle"/>
          <p:cNvSpPr/>
          <p:nvPr/>
        </p:nvSpPr>
        <p:spPr>
          <a:xfrm>
            <a:off x="1468080" y="5145840"/>
            <a:ext cx="502560" cy="502560"/>
          </a:xfrm>
          <a:prstGeom prst="ellipse">
            <a:avLst/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ool 5 label"/>
          <p:cNvSpPr/>
          <p:nvPr/>
        </p:nvSpPr>
        <p:spPr>
          <a:xfrm>
            <a:off x="1468080" y="5145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VS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ool 5 name"/>
          <p:cNvSpPr/>
          <p:nvPr/>
        </p:nvSpPr>
        <p:spPr>
          <a:xfrm>
            <a:off x="2108160" y="512748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Visual Studio + pytest</a:t>
            </a:r>
            <a:endParaRPr lang="en-GB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ool 5 text"/>
          <p:cNvSpPr/>
          <p:nvPr/>
        </p:nvSpPr>
        <p:spPr>
          <a:xfrm>
            <a:off x="2108160" y="5401800"/>
            <a:ext cx="3840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uFillTx/>
                <a:latin typeface="Calibri"/>
              </a:rPr>
              <a:t>компилиране и автоматични тестове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peed card"/>
          <p:cNvSpPr/>
          <p:nvPr/>
        </p:nvSpPr>
        <p:spPr>
          <a:xfrm>
            <a:off x="7476120" y="2370960"/>
            <a:ext cx="3565800" cy="3184200"/>
          </a:xfrm>
          <a:prstGeom prst="roundRect">
            <a:avLst>
              <a:gd name="adj" fmla="val 3200"/>
            </a:avLst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5" name="speed head"/>
          <p:cNvSpPr/>
          <p:nvPr/>
        </p:nvSpPr>
        <p:spPr>
          <a:xfrm>
            <a:off x="7704720" y="25470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C++ смята по-бързо</a:t>
            </a:r>
            <a:endParaRPr lang="en-GB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peed stat 1"/>
          <p:cNvSpPr/>
          <p:nvPr/>
        </p:nvSpPr>
        <p:spPr>
          <a:xfrm>
            <a:off x="7704720" y="296532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~50×</a:t>
            </a:r>
            <a:endParaRPr lang="en-GB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peed stat 1 label"/>
          <p:cNvSpPr/>
          <p:nvPr/>
        </p:nvSpPr>
        <p:spPr>
          <a:xfrm>
            <a:off x="7704720" y="365112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по-бързо смята къде е слънцето за всеки час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peed stat 2"/>
          <p:cNvSpPr/>
          <p:nvPr/>
        </p:nvSpPr>
        <p:spPr>
          <a:xfrm>
            <a:off x="7704720" y="415404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Calibri"/>
              </a:rPr>
              <a:t>~5×</a:t>
            </a:r>
            <a:endParaRPr lang="en-GB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peed stat 2 label"/>
          <p:cNvSpPr/>
          <p:nvPr/>
        </p:nvSpPr>
        <p:spPr>
          <a:xfrm>
            <a:off x="7704720" y="487872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dk2"/>
                </a:solidFill>
                <a:effectLst/>
                <a:uFillTx/>
                <a:latin typeface="Calibri"/>
              </a:rPr>
              <a:t>по-бързо търси най-добрия наклон: 0,10 s вместо 0,51 s за 6 млн. сметки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2060"/>
            </a:gs>
            <a:gs pos="67000">
              <a:srgbClr val="002060"/>
            </a:gs>
            <a:gs pos="100000">
              <a:srgbClr val="1A678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Freeform: Shape 4"/>
          <p:cNvSpPr/>
          <p:nvPr/>
        </p:nvSpPr>
        <p:spPr>
          <a:xfrm flipH="1" flipV="1">
            <a:off x="0" y="-360"/>
            <a:ext cx="12191760" cy="6857640"/>
          </a:xfrm>
          <a:custGeom>
            <a:avLst/>
            <a:gdLst>
              <a:gd name="textAreaLeft" fmla="*/ 360 w 12191760"/>
              <a:gd name="textAreaRight" fmla="*/ 12192480 w 12191760"/>
              <a:gd name="textAreaTop" fmla="*/ -360 h 6857640"/>
              <a:gd name="textAreaBottom" fmla="*/ 6857640 h 6857640"/>
              <a:gd name="GluePoint1X" fmla="*/ 0 w 12192000"/>
              <a:gd name="GluePoint1Y" fmla="*/ 6858000 h 6858000"/>
              <a:gd name="GluePoint2X" fmla="*/ 12192000 w 12192000"/>
              <a:gd name="GluePoint2Y" fmla="*/ 6858000 h 6858000"/>
              <a:gd name="GluePoint3X" fmla="*/ 12192000 w 12192000"/>
              <a:gd name="GluePoint3Y" fmla="*/ 0 h 6858000"/>
              <a:gd name="GluePoint4X" fmla="*/ 0 w 12192000"/>
              <a:gd name="GluePoint4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2060"/>
              </a:gs>
              <a:gs pos="25000">
                <a:srgbClr val="002060"/>
              </a:gs>
              <a:gs pos="100000">
                <a:srgbClr val="1A678E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 0"/>
          <p:cNvSpPr/>
          <p:nvPr/>
        </p:nvSpPr>
        <p:spPr>
          <a:xfrm>
            <a:off x="1981080" y="78624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Какво направих</a:t>
            </a:r>
            <a:r>
              <a:rPr lang="bg-BG" sz="4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ме</a:t>
            </a: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и защо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item 1 card"/>
          <p:cNvSpPr/>
          <p:nvPr/>
        </p:nvSpPr>
        <p:spPr>
          <a:xfrm>
            <a:off x="1981080" y="1938600"/>
            <a:ext cx="5623200" cy="7768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E7E6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item 1 circle"/>
          <p:cNvSpPr/>
          <p:nvPr/>
        </p:nvSpPr>
        <p:spPr>
          <a:xfrm>
            <a:off x="2090880" y="2030040"/>
            <a:ext cx="328680" cy="328680"/>
          </a:xfrm>
          <a:prstGeom prst="ellipse">
            <a:avLst/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item 1 label"/>
          <p:cNvSpPr/>
          <p:nvPr/>
        </p:nvSpPr>
        <p:spPr>
          <a:xfrm>
            <a:off x="2090880" y="203004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1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item 1 title"/>
          <p:cNvSpPr/>
          <p:nvPr/>
        </p:nvSpPr>
        <p:spPr>
          <a:xfrm>
            <a:off x="2529720" y="1984320"/>
            <a:ext cx="4937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Позиция на слънцето и светлина върху панела 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item 1 text"/>
          <p:cNvSpPr/>
          <p:nvPr/>
        </p:nvSpPr>
        <p:spPr>
          <a:xfrm>
            <a:off x="2529720" y="2212920"/>
            <a:ext cx="4937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Прогнозата за времето дава светлината върху хоризонтална земя. Панелът обаче е наклонен (например 35°) и обърнат в някаква посока. Затова смятам къде е слънцето за всеки час и колко светлина пада точно върху панела.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item 2 card"/>
          <p:cNvSpPr/>
          <p:nvPr/>
        </p:nvSpPr>
        <p:spPr>
          <a:xfrm>
            <a:off x="1981080" y="2761560"/>
            <a:ext cx="5623200" cy="7768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E7E6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8" name="item 2 circle"/>
          <p:cNvSpPr/>
          <p:nvPr/>
        </p:nvSpPr>
        <p:spPr>
          <a:xfrm>
            <a:off x="2090880" y="2853000"/>
            <a:ext cx="328680" cy="328680"/>
          </a:xfrm>
          <a:prstGeom prst="ellipse">
            <a:avLst/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item 2 label"/>
          <p:cNvSpPr/>
          <p:nvPr/>
        </p:nvSpPr>
        <p:spPr>
          <a:xfrm>
            <a:off x="2090880" y="285300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2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item 2 title"/>
          <p:cNvSpPr/>
          <p:nvPr/>
        </p:nvSpPr>
        <p:spPr>
          <a:xfrm>
            <a:off x="2529720" y="2807280"/>
            <a:ext cx="4937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Температура и мощност на панела 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item 2 text"/>
          <p:cNvSpPr/>
          <p:nvPr/>
        </p:nvSpPr>
        <p:spPr>
          <a:xfrm>
            <a:off x="2529720" y="3035880"/>
            <a:ext cx="4937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На слънце панелът се загрява, а горещият панел дава по-малко ток (−0,4% за всеки градус над 25 °C). Смятам температурата на панела, колко мощност произвежда и колко ток излиза след инвертора.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item 3 card"/>
          <p:cNvSpPr/>
          <p:nvPr/>
        </p:nvSpPr>
        <p:spPr>
          <a:xfrm>
            <a:off x="1981080" y="3584520"/>
            <a:ext cx="8229240" cy="7768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E7E6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3" name="item 3 circle"/>
          <p:cNvSpPr/>
          <p:nvPr/>
        </p:nvSpPr>
        <p:spPr>
          <a:xfrm>
            <a:off x="2090880" y="3675960"/>
            <a:ext cx="328680" cy="328680"/>
          </a:xfrm>
          <a:prstGeom prst="ellipse">
            <a:avLst/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4" name="item 3 label"/>
          <p:cNvSpPr/>
          <p:nvPr/>
        </p:nvSpPr>
        <p:spPr>
          <a:xfrm>
            <a:off x="2090880" y="367596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3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item 3 title"/>
          <p:cNvSpPr/>
          <p:nvPr/>
        </p:nvSpPr>
        <p:spPr>
          <a:xfrm>
            <a:off x="2529720" y="3630240"/>
            <a:ext cx="4937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Резервен план при липса на данни 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item 3 text"/>
          <p:cNvSpPr/>
          <p:nvPr/>
        </p:nvSpPr>
        <p:spPr>
          <a:xfrm>
            <a:off x="2529720" y="3858840"/>
            <a:ext cx="4937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Понякога прогнозата няма данни за светлината, а само за облаците. Тогава смятам светлината при ясно небе и колко от нея спират облаците, за да има прогноза винаги.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item 3 box"/>
          <p:cNvSpPr/>
          <p:nvPr/>
        </p:nvSpPr>
        <p:spPr>
          <a:xfrm>
            <a:off x="7604640" y="3657600"/>
            <a:ext cx="2486880" cy="630720"/>
          </a:xfrm>
          <a:prstGeom prst="roundRect">
            <a:avLst>
              <a:gd name="adj" fmla="val 11594"/>
            </a:avLst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" name="item 3 fact"/>
          <p:cNvSpPr/>
          <p:nvPr/>
        </p:nvSpPr>
        <p:spPr>
          <a:xfrm>
            <a:off x="7696080" y="3675960"/>
            <a:ext cx="230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ясно небе → облаци → светлина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item 4 card"/>
          <p:cNvSpPr/>
          <p:nvPr/>
        </p:nvSpPr>
        <p:spPr>
          <a:xfrm>
            <a:off x="1981080" y="4407480"/>
            <a:ext cx="8229240" cy="7768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E7E6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item 4 circle"/>
          <p:cNvSpPr/>
          <p:nvPr/>
        </p:nvSpPr>
        <p:spPr>
          <a:xfrm>
            <a:off x="2090880" y="4498920"/>
            <a:ext cx="328680" cy="328680"/>
          </a:xfrm>
          <a:prstGeom prst="ellipse">
            <a:avLst/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item 4 label"/>
          <p:cNvSpPr/>
          <p:nvPr/>
        </p:nvSpPr>
        <p:spPr>
          <a:xfrm>
            <a:off x="2090880" y="449892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4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item 4 title"/>
          <p:cNvSpPr/>
          <p:nvPr/>
        </p:nvSpPr>
        <p:spPr>
          <a:xfrm>
            <a:off x="2529720" y="4453200"/>
            <a:ext cx="4937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Най-добър наклон и посока на панелите 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item 4 text"/>
          <p:cNvSpPr/>
          <p:nvPr/>
        </p:nvSpPr>
        <p:spPr>
          <a:xfrm>
            <a:off x="2529720" y="4681800"/>
            <a:ext cx="4937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Много хора не знаят дали панелите им са обърнати правилно. Пробвам всички наклони и посоки за цялата година и ако има поне 5% повече ток, сайтът дава съвет как да ги обърнеш.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item 4 box"/>
          <p:cNvSpPr/>
          <p:nvPr/>
        </p:nvSpPr>
        <p:spPr>
          <a:xfrm>
            <a:off x="7604640" y="4480560"/>
            <a:ext cx="2486880" cy="630720"/>
          </a:xfrm>
          <a:prstGeom prst="roundRect">
            <a:avLst>
              <a:gd name="adj" fmla="val 11594"/>
            </a:avLst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5" name="item 4 fact"/>
          <p:cNvSpPr/>
          <p:nvPr/>
        </p:nvSpPr>
        <p:spPr>
          <a:xfrm>
            <a:off x="7696080" y="4498920"/>
            <a:ext cx="230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За София най-добре е 35° на юг.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item 5 card"/>
          <p:cNvSpPr/>
          <p:nvPr/>
        </p:nvSpPr>
        <p:spPr>
          <a:xfrm>
            <a:off x="1981080" y="5230440"/>
            <a:ext cx="8229240" cy="77688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rgbClr val="E7E6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item 5 circle"/>
          <p:cNvSpPr/>
          <p:nvPr/>
        </p:nvSpPr>
        <p:spPr>
          <a:xfrm>
            <a:off x="2090880" y="5321880"/>
            <a:ext cx="328680" cy="328680"/>
          </a:xfrm>
          <a:prstGeom prst="ellipse">
            <a:avLst/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8" name="item 5 label"/>
          <p:cNvSpPr/>
          <p:nvPr/>
        </p:nvSpPr>
        <p:spPr>
          <a:xfrm>
            <a:off x="2090880" y="5321880"/>
            <a:ext cx="328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5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item 5 title"/>
          <p:cNvSpPr/>
          <p:nvPr/>
        </p:nvSpPr>
        <p:spPr>
          <a:xfrm>
            <a:off x="2529720" y="5276160"/>
            <a:ext cx="4937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2"/>
                </a:solidFill>
                <a:effectLst/>
                <a:uFillTx/>
                <a:latin typeface="Calibri"/>
              </a:rPr>
              <a:t>Проверка колко точна е прогнозата 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item 5 text"/>
          <p:cNvSpPr/>
          <p:nvPr/>
        </p:nvSpPr>
        <p:spPr>
          <a:xfrm>
            <a:off x="2529720" y="5504760"/>
            <a:ext cx="4937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За да докажем, че моделът е верен, сравнявам прогнозата с ясно небе и с простото предположение „утре е като днес“ и смятам грешката (RMSE, MAE, Skill).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item 5 box"/>
          <p:cNvSpPr/>
          <p:nvPr/>
        </p:nvSpPr>
        <p:spPr>
          <a:xfrm>
            <a:off x="7604640" y="5303520"/>
            <a:ext cx="2486880" cy="630720"/>
          </a:xfrm>
          <a:prstGeom prst="roundRect">
            <a:avLst>
              <a:gd name="adj" fmla="val 11594"/>
            </a:avLst>
          </a:prstGeom>
          <a:solidFill>
            <a:srgbClr val="FFC000"/>
          </a:solid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item 5 fact"/>
          <p:cNvSpPr/>
          <p:nvPr/>
        </p:nvSpPr>
        <p:spPr>
          <a:xfrm>
            <a:off x="7696080" y="5321880"/>
            <a:ext cx="230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RMSE · MAE · Skill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2060"/>
            </a:gs>
            <a:gs pos="67000">
              <a:srgbClr val="002060"/>
            </a:gs>
            <a:gs pos="100000">
              <a:srgbClr val="1A678E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Freeform: Shape 4"/>
          <p:cNvSpPr/>
          <p:nvPr/>
        </p:nvSpPr>
        <p:spPr>
          <a:xfrm flipH="1" flipV="1">
            <a:off x="0" y="-360"/>
            <a:ext cx="12191760" cy="6857640"/>
          </a:xfrm>
          <a:custGeom>
            <a:avLst/>
            <a:gdLst>
              <a:gd name="textAreaLeft" fmla="*/ 360 w 12191760"/>
              <a:gd name="textAreaRight" fmla="*/ 12192480 w 12191760"/>
              <a:gd name="textAreaTop" fmla="*/ -360 h 6857640"/>
              <a:gd name="textAreaBottom" fmla="*/ 6857640 h 6857640"/>
              <a:gd name="GluePoint1X" fmla="*/ 0 w 12192000"/>
              <a:gd name="GluePoint1Y" fmla="*/ 6858000 h 6858000"/>
              <a:gd name="GluePoint2X" fmla="*/ 12192000 w 12192000"/>
              <a:gd name="GluePoint2Y" fmla="*/ 6858000 h 6858000"/>
              <a:gd name="GluePoint3X" fmla="*/ 12192000 w 12192000"/>
              <a:gd name="GluePoint3Y" fmla="*/ 0 h 6858000"/>
              <a:gd name="GluePoint4X" fmla="*/ 0 w 12192000"/>
              <a:gd name="GluePoint4Y" fmla="*/ 0 h 6858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</a:cxnLst>
            <a:rect l="textAreaLeft" t="textAreaTop" r="textAreaRight" b="textAreaBottom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2060"/>
              </a:gs>
              <a:gs pos="25000">
                <a:srgbClr val="002060"/>
              </a:gs>
              <a:gs pos="100000">
                <a:srgbClr val="1A678E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1"/>
          <p:cNvSpPr/>
          <p:nvPr/>
        </p:nvSpPr>
        <p:spPr>
          <a:xfrm>
            <a:off x="-73080" y="3246120"/>
            <a:ext cx="12264840" cy="76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bg-BG" sz="4400" b="1" u="none" strike="noStrike">
                <a:solidFill>
                  <a:srgbClr val="FFC000"/>
                </a:solidFill>
                <a:effectLst/>
                <a:uFillTx/>
                <a:latin typeface="Artifakt Element Heavy"/>
                <a:ea typeface="Artifakt Element Heavy"/>
              </a:rPr>
              <a:t>БЛАГОТВОРИМ ЗА ОТДЕЛЕНОТО ВРЕМЕ</a:t>
            </a:r>
            <a:endParaRPr lang="en-GB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 spd="slow">
    <p:push dir="u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Application>LibreOffice/26.2.6.3$Linux_X86_64 LibreOffice_project/620$Build-3</Application>
  <AppVersion>15.0000</AppVersion>
  <Words>801</Words>
  <Paragraphs>113</Paragraphs>
  <Company>Grizli777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2026-10-04T06:32:23Z</dcterms:created>
  <dc:creator>Pokemo Biker</dc:creator>
  <dc:description/>
  <dc:language>en-GB</dc:language>
  <cp:lastModifiedBy/>
  <dcterms:modified xsi:type="dcterms:W3CDTF">2026-10-04T12:22:22Z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Notes">
    <vt:i4>1</vt:i4>
  </property>
  <property fmtid="{D5CDD505-2E9C-101B-9397-08002B2CF9AE}" pid="4" name="PresentationFormat">
    <vt:lpwstr>Widescreen</vt:lpwstr>
  </property>
  <property fmtid="{D5CDD505-2E9C-101B-9397-08002B2CF9AE}" pid="5" name="Slides">
    <vt:i4>11</vt:i4>
  </property>
</Properties>
</file>