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media1.mp4" ContentType="video/mp4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move the slide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B6EE146-34C8-48CE-B1D7-F718AA0830C6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22A0FF-1952-4F31-A771-E87258AE96B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DEBF58-4607-4117-90D6-F545F34B38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9A53F3-3A09-4C40-8BD8-E4DF24B50C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0C6539-534F-423B-B27C-99B4E1899C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6B1ED6-87CD-4D16-BD07-99728D8135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BE05EE-C8D0-47D3-A8CE-F2E63776CD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C07919-6783-41AE-A542-D648A7B46E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2FCBBD-1968-4438-AC07-7538426EDD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2BC663-3354-45CD-BFAC-0F0A21C8CD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E885B9-E40F-4605-A38C-F91307A163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EC4A29-50EB-4195-85B4-64E9430B56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1F5686-1845-498E-A8C3-CA9995B1E0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video" Target="../media/media1.mp4"/><Relationship Id="rId2" Type="http://schemas.microsoft.com/office/2007/relationships/media" Target="../media/media1.mp4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400" cy="6857280"/>
          </a:xfrm>
          <a:prstGeom prst="rect">
            <a:avLst/>
          </a:prstGeom>
          <a:ln w="0">
            <a:noFill/>
          </a:ln>
        </p:spPr>
      </p:pic>
      <p:sp>
        <p:nvSpPr>
          <p:cNvPr id="70" name="TextBox 3"/>
          <p:cNvSpPr/>
          <p:nvPr/>
        </p:nvSpPr>
        <p:spPr>
          <a:xfrm>
            <a:off x="666000" y="3551400"/>
            <a:ext cx="5095080" cy="186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0" b="0" u="none" strike="noStrike">
                <a:solidFill>
                  <a:schemeClr val="dk1"/>
                </a:solidFill>
                <a:effectLst/>
                <a:uFillTx/>
                <a:latin typeface="Arial Black"/>
              </a:rPr>
              <a:t>AuFor</a:t>
            </a:r>
            <a:endParaRPr lang="en-GB" sz="1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663120" y="5013360"/>
            <a:ext cx="30960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Направено от: Local Vikings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 additive="repl">
                                        <p:cTn id="6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 additive="repl">
                                        <p:cTn id="9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Class="mediacall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6334" fill="hold"/>
                                        <p:tgtEl>
                                          <p:spTgt spid="6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>
              <p:cMediaNode>
                <p:cTn>
                  <p:stCondLst>
                    <p:cond delay="indefinite"/>
                  </p:stCondLst>
                </p:cTn>
                <p:tgtEl>
                  <p:spTgt spid="69"/>
                </p:tgtEl>
              </p:cMediaNode>
            </p:video>
            <p:seq>
              <p:cTn id="13" restart="whenNotActive" fill="hold" nodeType="interactiveSeq">
                <p:stCondLst>
                  <p:cond delay="0" evt="onClick">
                    <p:tgtEl>
                      <p:spTgt spid="69"/>
                    </p:tgtEl>
                  </p:cond>
                </p:stCondLst>
                <p:childTnLst>
                  <p:par>
                    <p:cTn id="14" fill="hold">
                      <p:stCondLst>
                        <p:cond delay="0" evt="onClick">
                          <p:tgtEl>
                            <p:spTgt spid="69"/>
                          </p:tgtEl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Class="mediacall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7" dur="1" fill="hold"/>
                                        <p:tgtEl>
                                          <p:spTgt spid="6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5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arallelogram 14"/>
          <p:cNvSpPr/>
          <p:nvPr/>
        </p:nvSpPr>
        <p:spPr>
          <a:xfrm flipV="1">
            <a:off x="3711600" y="-720"/>
            <a:ext cx="28380240" cy="6857280"/>
          </a:xfrm>
          <a:prstGeom prst="parallelogram">
            <a:avLst>
              <a:gd name="adj" fmla="val 37781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Rectangle 17"/>
          <p:cNvSpPr/>
          <p:nvPr/>
        </p:nvSpPr>
        <p:spPr>
          <a:xfrm>
            <a:off x="12192120" y="-4041000"/>
            <a:ext cx="20981160" cy="1365624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24"/>
          <p:cNvSpPr/>
          <p:nvPr/>
        </p:nvSpPr>
        <p:spPr>
          <a:xfrm>
            <a:off x="5977800" y="1720800"/>
            <a:ext cx="5608080" cy="341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AuFor</a:t>
            </a:r>
            <a:r>
              <a:rPr lang="bg-BG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е</a:t>
            </a:r>
            <a:r>
              <a:rPr lang="bg-BG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проект за прогнозиране и оптимизиране на слънчевата енергия, който помага да се предвиди производството на енергия и да се реши кога да се използва, съхранява или изнася. Той съчетава метеорологични данни, соларна физика и симулация на батерия, за да предоставя точни прогнози и практични препоръки.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6"/>
          <p:cNvSpPr/>
          <p:nvPr/>
        </p:nvSpPr>
        <p:spPr>
          <a:xfrm>
            <a:off x="5372280" y="475560"/>
            <a:ext cx="681912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bg-BG" sz="4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Какво представлява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1750"/>
    </mc:Choice>
    <mc:Fallback>
      <p:transition spd="slow"/>
    </mc:Fallback>
  </mc:AlternateContent>
  <p:timing>
    <p:tnLst>
      <p:par>
        <p:cTn id="18" dur="indefinite" restart="never" nodeType="tmRoot">
          <p:childTnLst>
            <p:seq>
              <p:cTn id="19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fill="hold" nodeType="with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5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fill="hold" nodeType="with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8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9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fill="hold" nodeType="with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32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3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path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8698 0 E">
                                      <p:cBhvr>
                                        <p:cTn id="35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2060"/>
            </a:gs>
            <a:gs pos="67000">
              <a:srgbClr val="002060"/>
            </a:gs>
            <a:gs pos="100000">
              <a:srgbClr val="1A678E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29"/>
          <p:cNvSpPr/>
          <p:nvPr/>
        </p:nvSpPr>
        <p:spPr>
          <a:xfrm flipV="1">
            <a:off x="0" y="-720"/>
            <a:ext cx="12191400" cy="6857280"/>
          </a:xfrm>
          <a:custGeom>
            <a:avLst/>
            <a:gdLst>
              <a:gd name="textAreaLeft" fmla="*/ 0 w 12191400"/>
              <a:gd name="textAreaRight" fmla="*/ 12192120 w 12191400"/>
              <a:gd name="textAreaTop" fmla="*/ -360 h 6857280"/>
              <a:gd name="textAreaBottom" fmla="*/ 6857640 h 6857280"/>
              <a:gd name="GluePoint1X" fmla="*/ 0 w 12192000"/>
              <a:gd name="GluePoint1Y" fmla="*/ 6858000 h 6858000"/>
              <a:gd name="GluePoint2X" fmla="*/ 12192000 w 12192000"/>
              <a:gd name="GluePoint2Y" fmla="*/ 6858000 h 6858000"/>
              <a:gd name="GluePoint3X" fmla="*/ 12192000 w 12192000"/>
              <a:gd name="GluePoint3Y" fmla="*/ 0 h 6858000"/>
              <a:gd name="GluePoint4X" fmla="*/ 0 w 12192000"/>
              <a:gd name="GluePoint4Y" fmla="*/ 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2192000" h="6858000">
                <a:moveTo>
                  <a:pt x="0" y="6858000"/>
                </a:moveTo>
                <a:lnTo>
                  <a:pt x="12192000" y="6858000"/>
                </a:lnTo>
                <a:lnTo>
                  <a:pt x="12192000" y="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2060"/>
              </a:gs>
              <a:gs pos="25000">
                <a:srgbClr val="002060"/>
              </a:gs>
              <a:gs pos="100000">
                <a:srgbClr val="1A678E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PlaceHolder 1"/>
          <p:cNvSpPr/>
          <p:nvPr/>
        </p:nvSpPr>
        <p:spPr>
          <a:xfrm>
            <a:off x="918000" y="710280"/>
            <a:ext cx="1088244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4F1EA"/>
                </a:solidFill>
                <a:effectLst/>
                <a:uFillTx/>
                <a:latin typeface="Calibri"/>
                <a:ea typeface="Manrope"/>
              </a:rPr>
              <a:t>Защо Python за сървъра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"/>
          <p:cNvSpPr/>
          <p:nvPr/>
        </p:nvSpPr>
        <p:spPr>
          <a:xfrm>
            <a:off x="1078200" y="2654640"/>
            <a:ext cx="360" cy="680760"/>
          </a:xfrm>
          <a:prstGeom prst="line">
            <a:avLst/>
          </a:prstGeom>
          <a:ln w="25400">
            <a:solidFill>
              <a:srgbClr val="F2B5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"/>
          <p:cNvSpPr/>
          <p:nvPr/>
        </p:nvSpPr>
        <p:spPr>
          <a:xfrm>
            <a:off x="1243800" y="2655360"/>
            <a:ext cx="45248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4F1EA"/>
                </a:solidFill>
                <a:effectLst/>
                <a:uFillTx/>
                <a:latin typeface="IBM Plex Sans"/>
                <a:ea typeface="IBM Plex Sans"/>
              </a:rPr>
              <a:t>Готови библиотеки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"/>
          <p:cNvSpPr/>
          <p:nvPr/>
        </p:nvSpPr>
        <p:spPr>
          <a:xfrm>
            <a:off x="1243800" y="2924640"/>
            <a:ext cx="4524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Sans"/>
                <a:ea typeface="IBM Plex Sans"/>
              </a:rPr>
              <a:t>pvlib, numpy и pandas: слънчевата физика и проверките не се пишат от нулата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5"/>
          <p:cNvSpPr/>
          <p:nvPr/>
        </p:nvSpPr>
        <p:spPr>
          <a:xfrm>
            <a:off x="1078200" y="3513240"/>
            <a:ext cx="360" cy="680760"/>
          </a:xfrm>
          <a:prstGeom prst="line">
            <a:avLst/>
          </a:prstGeom>
          <a:ln w="25400">
            <a:solidFill>
              <a:srgbClr val="F2B5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6"/>
          <p:cNvSpPr/>
          <p:nvPr/>
        </p:nvSpPr>
        <p:spPr>
          <a:xfrm>
            <a:off x="1243800" y="3513960"/>
            <a:ext cx="45248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4F1EA"/>
                </a:solidFill>
                <a:effectLst/>
                <a:uFillTx/>
                <a:latin typeface="IBM Plex Sans"/>
                <a:ea typeface="IBM Plex Sans"/>
              </a:rPr>
              <a:t>FastAPI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7"/>
          <p:cNvSpPr/>
          <p:nvPr/>
        </p:nvSpPr>
        <p:spPr>
          <a:xfrm>
            <a:off x="1243800" y="3782880"/>
            <a:ext cx="4524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Sans"/>
                <a:ea typeface="IBM Plex Sans"/>
              </a:rPr>
              <a:t>Бърз API, автоматична проверка на входните данни и документация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8"/>
          <p:cNvSpPr/>
          <p:nvPr/>
        </p:nvSpPr>
        <p:spPr>
          <a:xfrm>
            <a:off x="1078200" y="4371840"/>
            <a:ext cx="360" cy="680760"/>
          </a:xfrm>
          <a:prstGeom prst="line">
            <a:avLst/>
          </a:prstGeom>
          <a:ln w="25400">
            <a:solidFill>
              <a:srgbClr val="F2B5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9"/>
          <p:cNvSpPr/>
          <p:nvPr/>
        </p:nvSpPr>
        <p:spPr>
          <a:xfrm>
            <a:off x="1243800" y="4372200"/>
            <a:ext cx="45248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4F1EA"/>
                </a:solidFill>
                <a:effectLst/>
                <a:uFillTx/>
                <a:latin typeface="IBM Plex Sans"/>
                <a:ea typeface="IBM Plex Sans"/>
              </a:rPr>
              <a:t>Имплементация на C++ кода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0"/>
          <p:cNvSpPr/>
          <p:nvPr/>
        </p:nvSpPr>
        <p:spPr>
          <a:xfrm>
            <a:off x="1243800" y="4641480"/>
            <a:ext cx="4524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Sans"/>
                <a:ea typeface="IBM Plex Sans"/>
              </a:rPr>
              <a:t>Тежката математика е в C++ ; Python само го извиква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6422760" y="2655000"/>
            <a:ext cx="4851000" cy="2169360"/>
          </a:xfrm>
          <a:prstGeom prst="roundRect">
            <a:avLst>
              <a:gd name="adj" fmla="val 4535"/>
            </a:avLst>
          </a:prstGeom>
          <a:solidFill>
            <a:srgbClr val="17263D"/>
          </a:solidFill>
          <a:ln w="6350">
            <a:solidFill>
              <a:srgbClr val="2A3A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3040" tIns="203040" rIns="47880" bIns="17748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2B544"/>
                </a:solidFill>
                <a:effectLst/>
                <a:uFillTx/>
                <a:latin typeface="IBM Plex Mono"/>
                <a:ea typeface="IBM Plex Mono"/>
              </a:rPr>
              <a:t>@router.post</a:t>
            </a: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Mono"/>
                <a:ea typeface="IBM Plex Mono"/>
              </a:rPr>
              <a:t>("/forecast")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FB4F5"/>
                </a:solidFill>
                <a:effectLst/>
                <a:uFillTx/>
                <a:latin typeface="IBM Plex Mono"/>
                <a:ea typeface="IBM Plex Mono"/>
              </a:rPr>
              <a:t>def</a:t>
            </a: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Mono"/>
                <a:ea typeface="IBM Plex Mono"/>
              </a:rPr>
              <a:t> forecast(req):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Mono"/>
                <a:ea typeface="IBM Plex Mono"/>
              </a:rPr>
              <a:t>    weather = fetch_weather(req)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Mono"/>
                <a:ea typeface="IBM Plex Mono"/>
              </a:rPr>
              <a:t>    pr = calibration.load(key).pr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Mono"/>
                <a:ea typeface="IBM Plex Mono"/>
              </a:rPr>
              <a:t>    result = build_forecast(req, weather, pr)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Mono"/>
                <a:ea typeface="IBM Plex Mono"/>
              </a:rPr>
              <a:t>    state = calibration.update(key, result)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Mono"/>
                <a:ea typeface="IBM Plex Mono"/>
              </a:rPr>
              <a:t>    </a:t>
            </a:r>
            <a:r>
              <a:rPr lang="en-US" sz="1200" b="0" u="none" strike="noStrike">
                <a:solidFill>
                  <a:srgbClr val="7FB4F5"/>
                </a:solidFill>
                <a:effectLst/>
                <a:uFillTx/>
                <a:latin typeface="IBM Plex Mono"/>
                <a:ea typeface="IBM Plex Mono"/>
              </a:rPr>
              <a:t>return</a:t>
            </a: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Mono"/>
                <a:ea typeface="IBM Plex Mono"/>
              </a:rPr>
              <a:t> response(result, state)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5"/>
          <p:cNvSpPr/>
          <p:nvPr/>
        </p:nvSpPr>
        <p:spPr>
          <a:xfrm>
            <a:off x="6692040" y="4814640"/>
            <a:ext cx="58068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62500" lnSpcReduction="19999"/>
          </a:bodyPr>
          <a:p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2060"/>
            </a:gs>
            <a:gs pos="67000">
              <a:srgbClr val="002060"/>
            </a:gs>
            <a:gs pos="100000">
              <a:srgbClr val="1A678E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Freeform: Shape 40"/>
          <p:cNvSpPr/>
          <p:nvPr/>
        </p:nvSpPr>
        <p:spPr>
          <a:xfrm flipV="1">
            <a:off x="0" y="-720"/>
            <a:ext cx="12191400" cy="6857280"/>
          </a:xfrm>
          <a:custGeom>
            <a:avLst/>
            <a:gdLst>
              <a:gd name="textAreaLeft" fmla="*/ 0 w 12191400"/>
              <a:gd name="textAreaRight" fmla="*/ 12192120 w 12191400"/>
              <a:gd name="textAreaTop" fmla="*/ -360 h 6857280"/>
              <a:gd name="textAreaBottom" fmla="*/ 6857640 h 6857280"/>
              <a:gd name="GluePoint1X" fmla="*/ 0 w 12192000"/>
              <a:gd name="GluePoint1Y" fmla="*/ 6858000 h 6858000"/>
              <a:gd name="GluePoint2X" fmla="*/ 12192000 w 12192000"/>
              <a:gd name="GluePoint2Y" fmla="*/ 6858000 h 6858000"/>
              <a:gd name="GluePoint3X" fmla="*/ 12192000 w 12192000"/>
              <a:gd name="GluePoint3Y" fmla="*/ 0 h 6858000"/>
              <a:gd name="GluePoint4X" fmla="*/ 0 w 12192000"/>
              <a:gd name="GluePoint4Y" fmla="*/ 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2192000" h="6858000">
                <a:moveTo>
                  <a:pt x="0" y="6858000"/>
                </a:moveTo>
                <a:lnTo>
                  <a:pt x="12192000" y="6858000"/>
                </a:lnTo>
                <a:lnTo>
                  <a:pt x="12192000" y="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2060"/>
              </a:gs>
              <a:gs pos="25000">
                <a:srgbClr val="002060"/>
              </a:gs>
              <a:gs pos="100000">
                <a:srgbClr val="1A678E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PlaceHolder 1"/>
          <p:cNvSpPr/>
          <p:nvPr/>
        </p:nvSpPr>
        <p:spPr>
          <a:xfrm>
            <a:off x="828000" y="992880"/>
            <a:ext cx="1088244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Manrope"/>
                <a:ea typeface="Manrope"/>
              </a:rPr>
              <a:t>Ка</a:t>
            </a:r>
            <a:r>
              <a:rPr lang="bg-BG" sz="4400" b="1" u="none" strike="noStrike">
                <a:solidFill>
                  <a:schemeClr val="lt1"/>
                </a:solidFill>
                <a:effectLst/>
                <a:uFillTx/>
                <a:latin typeface="Manrope"/>
                <a:ea typeface="Manrope"/>
              </a:rPr>
              <a:t>к създадохме</a:t>
            </a: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Manrope"/>
                <a:ea typeface="Manrope"/>
              </a:rPr>
              <a:t> Backend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745560" y="2451600"/>
            <a:ext cx="360" cy="680760"/>
          </a:xfrm>
          <a:prstGeom prst="line">
            <a:avLst/>
          </a:prstGeom>
          <a:ln w="25400">
            <a:solidFill>
              <a:srgbClr val="0A5FC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"/>
          <p:cNvSpPr/>
          <p:nvPr/>
        </p:nvSpPr>
        <p:spPr>
          <a:xfrm>
            <a:off x="911160" y="2452320"/>
            <a:ext cx="4001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IBM Plex Sans"/>
                <a:ea typeface="IBM Plex Sans"/>
              </a:rPr>
              <a:t>FastAPI сървър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911160" y="2721600"/>
            <a:ext cx="400176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IBM Plex Sans"/>
                <a:ea typeface="IBM Plex Sans"/>
              </a:rPr>
              <a:t>API за прогноза, показания, облачна карта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5"/>
          <p:cNvSpPr/>
          <p:nvPr/>
        </p:nvSpPr>
        <p:spPr>
          <a:xfrm>
            <a:off x="745560" y="3285000"/>
            <a:ext cx="360" cy="680400"/>
          </a:xfrm>
          <a:prstGeom prst="line">
            <a:avLst/>
          </a:prstGeom>
          <a:ln w="25400">
            <a:solidFill>
              <a:srgbClr val="0A5FC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911160" y="3285360"/>
            <a:ext cx="4001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IBM Plex Sans"/>
                <a:ea typeface="IBM Plex Sans"/>
              </a:rPr>
              <a:t>Прогнозен pipeline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7"/>
          <p:cNvSpPr/>
          <p:nvPr/>
        </p:nvSpPr>
        <p:spPr>
          <a:xfrm>
            <a:off x="911160" y="3554640"/>
            <a:ext cx="400176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IBM Plex Sans"/>
                <a:ea typeface="IBM Plex Sans"/>
              </a:rPr>
              <a:t>Време към prediction физика (C++) към симулация на батерия и от това съвети, в една заявка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8"/>
          <p:cNvSpPr/>
          <p:nvPr/>
        </p:nvSpPr>
        <p:spPr>
          <a:xfrm>
            <a:off x="745560" y="4118040"/>
            <a:ext cx="360" cy="680760"/>
          </a:xfrm>
          <a:prstGeom prst="line">
            <a:avLst/>
          </a:prstGeom>
          <a:ln w="25400">
            <a:solidFill>
              <a:srgbClr val="0A5FC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9"/>
          <p:cNvSpPr/>
          <p:nvPr/>
        </p:nvSpPr>
        <p:spPr>
          <a:xfrm>
            <a:off x="911160" y="4118400"/>
            <a:ext cx="4001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IBM Plex Sans"/>
                <a:ea typeface="IBM Plex Sans"/>
              </a:rPr>
              <a:t>Симулации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911160" y="4387680"/>
            <a:ext cx="400176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IBM Plex Sans"/>
                <a:ea typeface="IBM Plex Sans"/>
              </a:rPr>
              <a:t>Батерия час по час; симулирани показания за демото, винаги с етикет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1"/>
          <p:cNvSpPr/>
          <p:nvPr/>
        </p:nvSpPr>
        <p:spPr>
          <a:xfrm>
            <a:off x="745560" y="4951080"/>
            <a:ext cx="360" cy="680760"/>
          </a:xfrm>
          <a:prstGeom prst="line">
            <a:avLst/>
          </a:prstGeom>
          <a:ln w="25400">
            <a:solidFill>
              <a:srgbClr val="F2B5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911160" y="4951440"/>
            <a:ext cx="4001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IBM Plex Sans"/>
                <a:ea typeface="IBM Plex Sans"/>
              </a:rPr>
              <a:t>Калибриране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3"/>
          <p:cNvSpPr/>
          <p:nvPr/>
        </p:nvSpPr>
        <p:spPr>
          <a:xfrm>
            <a:off x="911160" y="5220720"/>
            <a:ext cx="400176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IBM Plex Sans"/>
                <a:ea typeface="IBM Plex Sans"/>
              </a:rPr>
              <a:t>Реални данни от сензори и камера правят прогнозата по-точна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4"/>
          <p:cNvSpPr/>
          <p:nvPr/>
        </p:nvSpPr>
        <p:spPr>
          <a:xfrm>
            <a:off x="5672880" y="2334600"/>
            <a:ext cx="5772600" cy="355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Image 0" descr="Схема на AuFor: входни данни, сървърът с pipeline, батерия, съвети и калибриране, и какво вижда потребителят"/>
          <p:cNvSpPr/>
          <p:nvPr/>
        </p:nvSpPr>
        <p:spPr>
          <a:xfrm>
            <a:off x="5678280" y="2340720"/>
            <a:ext cx="5760720" cy="3544920"/>
          </a:xfrm>
          <a:prstGeom prst="roundRect">
            <a:avLst>
              <a:gd name="adj" fmla="val 2595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5"/>
          <p:cNvSpPr/>
          <p:nvPr/>
        </p:nvSpPr>
        <p:spPr>
          <a:xfrm>
            <a:off x="5675400" y="2337840"/>
            <a:ext cx="5766480" cy="3551400"/>
          </a:xfrm>
          <a:prstGeom prst="roundRect">
            <a:avLst>
              <a:gd name="adj" fmla="val 2677"/>
            </a:avLst>
          </a:prstGeom>
          <a:noFill/>
          <a:ln w="6350">
            <a:solidFill>
              <a:srgbClr val="DDD8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2060"/>
            </a:gs>
            <a:gs pos="67000">
              <a:srgbClr val="002060"/>
            </a:gs>
            <a:gs pos="100000">
              <a:srgbClr val="1A678E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40"/>
          <p:cNvSpPr/>
          <p:nvPr/>
        </p:nvSpPr>
        <p:spPr>
          <a:xfrm flipV="1">
            <a:off x="0" y="-720"/>
            <a:ext cx="12191400" cy="6857280"/>
          </a:xfrm>
          <a:custGeom>
            <a:avLst/>
            <a:gdLst>
              <a:gd name="textAreaLeft" fmla="*/ 0 w 12191400"/>
              <a:gd name="textAreaRight" fmla="*/ 12192120 w 12191400"/>
              <a:gd name="textAreaTop" fmla="*/ -360 h 6857280"/>
              <a:gd name="textAreaBottom" fmla="*/ 6857640 h 6857280"/>
              <a:gd name="GluePoint1X" fmla="*/ 0 w 12192000"/>
              <a:gd name="GluePoint1Y" fmla="*/ 6858000 h 6858000"/>
              <a:gd name="GluePoint2X" fmla="*/ 12192000 w 12192000"/>
              <a:gd name="GluePoint2Y" fmla="*/ 6858000 h 6858000"/>
              <a:gd name="GluePoint3X" fmla="*/ 12192000 w 12192000"/>
              <a:gd name="GluePoint3Y" fmla="*/ 0 h 6858000"/>
              <a:gd name="GluePoint4X" fmla="*/ 0 w 12192000"/>
              <a:gd name="GluePoint4Y" fmla="*/ 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2192000" h="6858000">
                <a:moveTo>
                  <a:pt x="0" y="6858000"/>
                </a:moveTo>
                <a:lnTo>
                  <a:pt x="12192000" y="6858000"/>
                </a:lnTo>
                <a:lnTo>
                  <a:pt x="12192000" y="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2060"/>
              </a:gs>
              <a:gs pos="25000">
                <a:srgbClr val="002060"/>
              </a:gs>
              <a:gs pos="100000">
                <a:srgbClr val="1A678E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PlaceHolder 1"/>
          <p:cNvSpPr/>
          <p:nvPr/>
        </p:nvSpPr>
        <p:spPr>
          <a:xfrm>
            <a:off x="654480" y="795960"/>
            <a:ext cx="1088244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4F1EA"/>
                </a:solidFill>
                <a:effectLst/>
                <a:uFillTx/>
                <a:latin typeface="Manrope"/>
                <a:ea typeface="Manrope"/>
              </a:rPr>
              <a:t>Защо HTML, CSS и JavaScript</a:t>
            </a:r>
            <a:endParaRPr lang="en-GB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"/>
          <p:cNvSpPr/>
          <p:nvPr/>
        </p:nvSpPr>
        <p:spPr>
          <a:xfrm>
            <a:off x="755280" y="2153880"/>
            <a:ext cx="360" cy="680760"/>
          </a:xfrm>
          <a:prstGeom prst="line">
            <a:avLst/>
          </a:prstGeom>
          <a:ln w="25400">
            <a:solidFill>
              <a:srgbClr val="F2B5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920520" y="2154600"/>
            <a:ext cx="4001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4F1EA"/>
                </a:solidFill>
                <a:effectLst/>
                <a:uFillTx/>
                <a:latin typeface="IBM Plex Sans"/>
                <a:ea typeface="IBM Plex Sans"/>
              </a:rPr>
              <a:t>Без build стъпка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"/>
          <p:cNvSpPr/>
          <p:nvPr/>
        </p:nvSpPr>
        <p:spPr>
          <a:xfrm>
            <a:off x="920520" y="2423880"/>
            <a:ext cx="400176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Sans"/>
                <a:ea typeface="IBM Plex Sans"/>
              </a:rPr>
              <a:t>Сървърът дава страницата директно: промяна, презареждане, готово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5"/>
          <p:cNvSpPr/>
          <p:nvPr/>
        </p:nvSpPr>
        <p:spPr>
          <a:xfrm>
            <a:off x="755280" y="3012480"/>
            <a:ext cx="360" cy="474840"/>
          </a:xfrm>
          <a:prstGeom prst="line">
            <a:avLst/>
          </a:prstGeom>
          <a:ln w="25400">
            <a:solidFill>
              <a:srgbClr val="F2B5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6"/>
          <p:cNvSpPr/>
          <p:nvPr/>
        </p:nvSpPr>
        <p:spPr>
          <a:xfrm>
            <a:off x="920520" y="3013200"/>
            <a:ext cx="4001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4F1EA"/>
                </a:solidFill>
                <a:effectLst/>
                <a:uFillTx/>
                <a:latin typeface="IBM Plex Sans"/>
                <a:ea typeface="IBM Plex Sans"/>
              </a:rPr>
              <a:t>Работи навсякъде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7"/>
          <p:cNvSpPr/>
          <p:nvPr/>
        </p:nvSpPr>
        <p:spPr>
          <a:xfrm>
            <a:off x="920520" y="3282120"/>
            <a:ext cx="40017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Sans"/>
                <a:ea typeface="IBM Plex Sans"/>
              </a:rPr>
              <a:t>Всеки браузър и телефон, без инсталация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8"/>
          <p:cNvSpPr/>
          <p:nvPr/>
        </p:nvSpPr>
        <p:spPr>
          <a:xfrm>
            <a:off x="755280" y="3665160"/>
            <a:ext cx="360" cy="680760"/>
          </a:xfrm>
          <a:prstGeom prst="line">
            <a:avLst/>
          </a:prstGeom>
          <a:ln w="25400">
            <a:solidFill>
              <a:srgbClr val="F2B5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9"/>
          <p:cNvSpPr/>
          <p:nvPr/>
        </p:nvSpPr>
        <p:spPr>
          <a:xfrm>
            <a:off x="920520" y="3665880"/>
            <a:ext cx="4001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4F1EA"/>
                </a:solidFill>
                <a:effectLst/>
                <a:uFillTx/>
                <a:latin typeface="IBM Plex Sans"/>
                <a:ea typeface="IBM Plex Sans"/>
              </a:rPr>
              <a:t>Пълен контрол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0"/>
          <p:cNvSpPr/>
          <p:nvPr/>
        </p:nvSpPr>
        <p:spPr>
          <a:xfrm>
            <a:off x="920520" y="3935160"/>
            <a:ext cx="400176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Sans"/>
                <a:ea typeface="IBM Plex Sans"/>
              </a:rPr>
              <a:t>Облаците и вятърът се рисуват директно върху canvas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1"/>
          <p:cNvSpPr/>
          <p:nvPr/>
        </p:nvSpPr>
        <p:spPr>
          <a:xfrm>
            <a:off x="755280" y="4523760"/>
            <a:ext cx="360" cy="680760"/>
          </a:xfrm>
          <a:prstGeom prst="line">
            <a:avLst/>
          </a:prstGeom>
          <a:ln w="25400">
            <a:solidFill>
              <a:srgbClr val="F2B5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2"/>
          <p:cNvSpPr/>
          <p:nvPr/>
        </p:nvSpPr>
        <p:spPr>
          <a:xfrm>
            <a:off x="920520" y="4524480"/>
            <a:ext cx="4001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4F1EA"/>
                </a:solidFill>
                <a:effectLst/>
                <a:uFillTx/>
                <a:latin typeface="IBM Plex Sans"/>
                <a:ea typeface="IBM Plex Sans"/>
              </a:rPr>
              <a:t>Малко и бързо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3"/>
          <p:cNvSpPr/>
          <p:nvPr/>
        </p:nvSpPr>
        <p:spPr>
          <a:xfrm>
            <a:off x="920520" y="4793400"/>
            <a:ext cx="400176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BCC7D6"/>
                </a:solidFill>
                <a:effectLst/>
                <a:uFillTx/>
                <a:latin typeface="IBM Plex Sans"/>
                <a:ea typeface="IBM Plex Sans"/>
              </a:rPr>
              <a:t>Без framework: само Leaflet за картата и Chart.js за графиките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Image 0" descr="Калкулаторът на AuFor в светла тема: карта с ивици на вятъра и профилът на системата вдясно"/>
          <p:cNvSpPr/>
          <p:nvPr/>
        </p:nvSpPr>
        <p:spPr>
          <a:xfrm>
            <a:off x="5673240" y="2160720"/>
            <a:ext cx="5762880" cy="3005280"/>
          </a:xfrm>
          <a:prstGeom prst="roundRect">
            <a:avLst>
              <a:gd name="adj" fmla="val 3099"/>
            </a:avLst>
          </a:prstGeom>
          <a:blipFill rotWithShape="0">
            <a:blip r:embed="rId1"/>
            <a:srcRect/>
            <a:stretch/>
          </a:blipFill>
          <a:ln w="0">
            <a:noFill/>
          </a:ln>
          <a:effectLst>
            <a:outerShdw algn="bl" blurRad="406440" dir="5400000" dist="152280" rotWithShape="0">
              <a:srgbClr val="000000">
                <a:alpha val="4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4"/>
          <p:cNvSpPr/>
          <p:nvPr/>
        </p:nvSpPr>
        <p:spPr>
          <a:xfrm>
            <a:off x="5667120" y="2154240"/>
            <a:ext cx="5769000" cy="3011400"/>
          </a:xfrm>
          <a:prstGeom prst="roundRect">
            <a:avLst>
              <a:gd name="adj" fmla="val 3196"/>
            </a:avLst>
          </a:prstGeom>
          <a:noFill/>
          <a:ln w="6350">
            <a:solidFill>
              <a:srgbClr val="2A3A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2060"/>
            </a:gs>
            <a:gs pos="67000">
              <a:srgbClr val="002060"/>
            </a:gs>
            <a:gs pos="100000">
              <a:srgbClr val="1A678E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Freeform: Shape 4"/>
          <p:cNvSpPr/>
          <p:nvPr/>
        </p:nvSpPr>
        <p:spPr>
          <a:xfrm flipH="1" flipV="1">
            <a:off x="-720" y="0"/>
            <a:ext cx="12191400" cy="6857280"/>
          </a:xfrm>
          <a:custGeom>
            <a:avLst/>
            <a:gdLst>
              <a:gd name="textAreaLeft" fmla="*/ 360 w 12191400"/>
              <a:gd name="textAreaRight" fmla="*/ 12192480 w 12191400"/>
              <a:gd name="textAreaTop" fmla="*/ -360 h 6857280"/>
              <a:gd name="textAreaBottom" fmla="*/ 6857640 h 6857280"/>
              <a:gd name="GluePoint1X" fmla="*/ 0 w 12192000"/>
              <a:gd name="GluePoint1Y" fmla="*/ 6858000 h 6858000"/>
              <a:gd name="GluePoint2X" fmla="*/ 12192000 w 12192000"/>
              <a:gd name="GluePoint2Y" fmla="*/ 6858000 h 6858000"/>
              <a:gd name="GluePoint3X" fmla="*/ 12192000 w 12192000"/>
              <a:gd name="GluePoint3Y" fmla="*/ 0 h 6858000"/>
              <a:gd name="GluePoint4X" fmla="*/ 0 w 12192000"/>
              <a:gd name="GluePoint4Y" fmla="*/ 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2192000" h="6858000">
                <a:moveTo>
                  <a:pt x="0" y="6858000"/>
                </a:moveTo>
                <a:lnTo>
                  <a:pt x="12192000" y="6858000"/>
                </a:lnTo>
                <a:lnTo>
                  <a:pt x="12192000" y="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2060"/>
              </a:gs>
              <a:gs pos="25000">
                <a:srgbClr val="002060"/>
              </a:gs>
              <a:gs pos="100000">
                <a:srgbClr val="1A678E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PlaceHolder 1"/>
          <p:cNvSpPr/>
          <p:nvPr/>
        </p:nvSpPr>
        <p:spPr>
          <a:xfrm>
            <a:off x="657720" y="977040"/>
            <a:ext cx="1088244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396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Manrope"/>
              </a:rPr>
              <a:t>Какво построих</a:t>
            </a:r>
            <a:r>
              <a:rPr lang="bg-BG" sz="4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Manrope"/>
              </a:rPr>
              <a:t>ме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Image 0" descr="Картата с анимиран поток на вятъра и стрелки над облачната прогноза"/>
          <p:cNvSpPr/>
          <p:nvPr/>
        </p:nvSpPr>
        <p:spPr>
          <a:xfrm>
            <a:off x="660600" y="2080440"/>
            <a:ext cx="6082200" cy="3796200"/>
          </a:xfrm>
          <a:prstGeom prst="roundRect">
            <a:avLst>
              <a:gd name="adj" fmla="val 2508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"/>
          <p:cNvSpPr/>
          <p:nvPr/>
        </p:nvSpPr>
        <p:spPr>
          <a:xfrm>
            <a:off x="657720" y="2077560"/>
            <a:ext cx="6088680" cy="3802680"/>
          </a:xfrm>
          <a:prstGeom prst="roundRect">
            <a:avLst>
              <a:gd name="adj" fmla="val 2588"/>
            </a:avLst>
          </a:prstGeom>
          <a:noFill/>
          <a:ln w="6350">
            <a:solidFill>
              <a:srgbClr val="DDD8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3"/>
          <p:cNvSpPr/>
          <p:nvPr/>
        </p:nvSpPr>
        <p:spPr>
          <a:xfrm>
            <a:off x="7118280" y="2594880"/>
            <a:ext cx="360" cy="680760"/>
          </a:xfrm>
          <a:prstGeom prst="line">
            <a:avLst/>
          </a:prstGeom>
          <a:ln w="25400">
            <a:solidFill>
              <a:srgbClr val="0A5FC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"/>
          <p:cNvSpPr/>
          <p:nvPr/>
        </p:nvSpPr>
        <p:spPr>
          <a:xfrm>
            <a:off x="7283880" y="2595600"/>
            <a:ext cx="405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IBM Plex Sans"/>
                <a:ea typeface="IBM Plex Sans"/>
              </a:rPr>
              <a:t>Карта на облаци и вятър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7283880" y="2864880"/>
            <a:ext cx="405396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IBM Plex Sans"/>
                <a:ea typeface="IBM Plex Sans"/>
              </a:rPr>
              <a:t>Слой, който следва изгледа: облаци, стрелки, анимиран поток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6"/>
          <p:cNvSpPr/>
          <p:nvPr/>
        </p:nvSpPr>
        <p:spPr>
          <a:xfrm>
            <a:off x="7118280" y="3453480"/>
            <a:ext cx="360" cy="474840"/>
          </a:xfrm>
          <a:prstGeom prst="line">
            <a:avLst/>
          </a:prstGeom>
          <a:ln w="25400">
            <a:solidFill>
              <a:srgbClr val="0A5FC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7"/>
          <p:cNvSpPr/>
          <p:nvPr/>
        </p:nvSpPr>
        <p:spPr>
          <a:xfrm>
            <a:off x="7283880" y="3454200"/>
            <a:ext cx="405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IBM Plex Sans"/>
                <a:ea typeface="IBM Plex Sans"/>
              </a:rPr>
              <a:t>Времева лента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8"/>
          <p:cNvSpPr/>
          <p:nvPr/>
        </p:nvSpPr>
        <p:spPr>
          <a:xfrm>
            <a:off x="7283880" y="3723120"/>
            <a:ext cx="40539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IBM Plex Sans"/>
                <a:ea typeface="IBM Plex Sans"/>
              </a:rPr>
              <a:t>7 дни напред; графиките и картата са свързани по час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9"/>
          <p:cNvSpPr/>
          <p:nvPr/>
        </p:nvSpPr>
        <p:spPr>
          <a:xfrm>
            <a:off x="7118280" y="4106160"/>
            <a:ext cx="360" cy="680760"/>
          </a:xfrm>
          <a:prstGeom prst="line">
            <a:avLst/>
          </a:prstGeom>
          <a:ln w="25400">
            <a:solidFill>
              <a:srgbClr val="0A5FC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0"/>
          <p:cNvSpPr/>
          <p:nvPr/>
        </p:nvSpPr>
        <p:spPr>
          <a:xfrm>
            <a:off x="7283880" y="4106880"/>
            <a:ext cx="405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IBM Plex Sans"/>
                <a:ea typeface="IBM Plex Sans"/>
              </a:rPr>
              <a:t>Резултати и съвети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1"/>
          <p:cNvSpPr/>
          <p:nvPr/>
        </p:nvSpPr>
        <p:spPr>
          <a:xfrm>
            <a:off x="7283880" y="4376160"/>
            <a:ext cx="405396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IBM Plex Sans"/>
                <a:ea typeface="IBM Plex Sans"/>
              </a:rPr>
              <a:t>Графики, карти със съвети, живи показания на 10 секунди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2"/>
          <p:cNvSpPr/>
          <p:nvPr/>
        </p:nvSpPr>
        <p:spPr>
          <a:xfrm>
            <a:off x="7118280" y="4964760"/>
            <a:ext cx="360" cy="475200"/>
          </a:xfrm>
          <a:prstGeom prst="line">
            <a:avLst/>
          </a:prstGeom>
          <a:ln w="25400">
            <a:solidFill>
              <a:srgbClr val="F2B5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3"/>
          <p:cNvSpPr/>
          <p:nvPr/>
        </p:nvSpPr>
        <p:spPr>
          <a:xfrm>
            <a:off x="7283880" y="4965480"/>
            <a:ext cx="405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19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IBM Plex Sans"/>
                <a:ea typeface="IBM Plex Sans"/>
              </a:rPr>
              <a:t>За всеки екран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4"/>
          <p:cNvSpPr/>
          <p:nvPr/>
        </p:nvSpPr>
        <p:spPr>
          <a:xfrm>
            <a:off x="7283880" y="5234400"/>
            <a:ext cx="405396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62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IBM Plex Sans"/>
                <a:ea typeface="IBM Plex Sans"/>
              </a:rPr>
              <a:t>Светла и тъмна тема, изглед за телефон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2060"/>
            </a:gs>
            <a:gs pos="67000">
              <a:srgbClr val="002060"/>
            </a:gs>
            <a:gs pos="100000">
              <a:srgbClr val="1A678E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: Rounded Corners 21"/>
          <p:cNvSpPr/>
          <p:nvPr/>
        </p:nvSpPr>
        <p:spPr>
          <a:xfrm>
            <a:off x="5775840" y="5215680"/>
            <a:ext cx="4479840" cy="51696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Freeform: Shape 4"/>
          <p:cNvSpPr/>
          <p:nvPr/>
        </p:nvSpPr>
        <p:spPr>
          <a:xfrm flipH="1" flipV="1">
            <a:off x="-720" y="0"/>
            <a:ext cx="12191400" cy="6857280"/>
          </a:xfrm>
          <a:custGeom>
            <a:avLst/>
            <a:gdLst>
              <a:gd name="textAreaLeft" fmla="*/ 360 w 12191400"/>
              <a:gd name="textAreaRight" fmla="*/ 12192480 w 12191400"/>
              <a:gd name="textAreaTop" fmla="*/ -360 h 6857280"/>
              <a:gd name="textAreaBottom" fmla="*/ 6857640 h 6857280"/>
              <a:gd name="GluePoint1X" fmla="*/ 0 w 12192000"/>
              <a:gd name="GluePoint1Y" fmla="*/ 6858000 h 6858000"/>
              <a:gd name="GluePoint2X" fmla="*/ 12192000 w 12192000"/>
              <a:gd name="GluePoint2Y" fmla="*/ 6858000 h 6858000"/>
              <a:gd name="GluePoint3X" fmla="*/ 12192000 w 12192000"/>
              <a:gd name="GluePoint3Y" fmla="*/ 0 h 6858000"/>
              <a:gd name="GluePoint4X" fmla="*/ 0 w 12192000"/>
              <a:gd name="GluePoint4Y" fmla="*/ 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2192000" h="6858000">
                <a:moveTo>
                  <a:pt x="0" y="6858000"/>
                </a:moveTo>
                <a:lnTo>
                  <a:pt x="12192000" y="6858000"/>
                </a:lnTo>
                <a:lnTo>
                  <a:pt x="12192000" y="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2060"/>
              </a:gs>
              <a:gs pos="25000">
                <a:srgbClr val="002060"/>
              </a:gs>
              <a:gs pos="100000">
                <a:srgbClr val="1A678E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 1"/>
          <p:cNvSpPr/>
          <p:nvPr/>
        </p:nvSpPr>
        <p:spPr>
          <a:xfrm>
            <a:off x="1862280" y="9691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bg-BG" sz="4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П</a:t>
            </a: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редсказва</a:t>
            </a:r>
            <a:r>
              <a:rPr lang="bg-BG" sz="4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не</a:t>
            </a: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 и работa</a:t>
            </a:r>
            <a:r>
              <a:rPr lang="bg-BG" sz="4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 на </a:t>
            </a: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AI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1935360" y="2189880"/>
            <a:ext cx="127440" cy="127440"/>
          </a:xfrm>
          <a:prstGeom prst="ellipse">
            <a:avLst/>
          </a:prstGeom>
          <a:solidFill>
            <a:srgbClr val="FFC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720" tIns="45000" rIns="63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 4"/>
          <p:cNvSpPr/>
          <p:nvPr/>
        </p:nvSpPr>
        <p:spPr>
          <a:xfrm>
            <a:off x="2209680" y="2080440"/>
            <a:ext cx="33825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Цел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Да оценим слънчевата светлина към соларните панели за 5 минути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5"/>
          <p:cNvSpPr/>
          <p:nvPr/>
        </p:nvSpPr>
        <p:spPr>
          <a:xfrm>
            <a:off x="1935360" y="3087360"/>
            <a:ext cx="127440" cy="127440"/>
          </a:xfrm>
          <a:prstGeom prst="ellipse">
            <a:avLst/>
          </a:prstGeom>
          <a:solidFill>
            <a:srgbClr val="FFC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720" tIns="45000" rIns="63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 6"/>
          <p:cNvSpPr/>
          <p:nvPr/>
        </p:nvSpPr>
        <p:spPr>
          <a:xfrm>
            <a:off x="2209680" y="2977560"/>
            <a:ext cx="33825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Какво прави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Леща тип рибно око гледа нагоре; мрежата маркира всеки пиксел: облак или чисто небе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7"/>
          <p:cNvSpPr/>
          <p:nvPr/>
        </p:nvSpPr>
        <p:spPr>
          <a:xfrm>
            <a:off x="1935360" y="4201560"/>
            <a:ext cx="127440" cy="127440"/>
          </a:xfrm>
          <a:prstGeom prst="ellipse">
            <a:avLst/>
          </a:prstGeom>
          <a:solidFill>
            <a:srgbClr val="FFC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720" tIns="45000" rIns="63720" bIns="45000" anchor="t">
            <a:noAutofit/>
          </a:bodyPr>
          <a:p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2209680" y="4092120"/>
            <a:ext cx="33825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Как работи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Слънцето се маскира; свободно небе % = 100 − облаци %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9"/>
          <p:cNvSpPr/>
          <p:nvPr/>
        </p:nvSpPr>
        <p:spPr>
          <a:xfrm>
            <a:off x="1935360" y="5262480"/>
            <a:ext cx="127440" cy="127440"/>
          </a:xfrm>
          <a:prstGeom prst="ellipse">
            <a:avLst/>
          </a:prstGeom>
          <a:solidFill>
            <a:srgbClr val="FFC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720" tIns="45000" rIns="63720" bIns="45000" anchor="t">
            <a:noAutofit/>
          </a:bodyPr>
          <a:p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Text 10"/>
          <p:cNvSpPr/>
          <p:nvPr/>
        </p:nvSpPr>
        <p:spPr>
          <a:xfrm>
            <a:off x="2209680" y="5152680"/>
            <a:ext cx="33825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Резултат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Един запис на всеки 5 минути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0" descr="Original sky image"/>
          <p:cNvPicPr/>
          <p:nvPr/>
        </p:nvPicPr>
        <p:blipFill>
          <a:blip r:embed="rId1"/>
          <a:stretch/>
        </p:blipFill>
        <p:spPr>
          <a:xfrm>
            <a:off x="5775840" y="2034720"/>
            <a:ext cx="2193840" cy="146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1" name="Image 1" descr="Sky image with analysis circle"/>
          <p:cNvPicPr/>
          <p:nvPr/>
        </p:nvPicPr>
        <p:blipFill>
          <a:blip r:embed="rId2"/>
          <a:stretch/>
        </p:blipFill>
        <p:spPr>
          <a:xfrm>
            <a:off x="8061840" y="2034720"/>
            <a:ext cx="2193840" cy="146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Text 11"/>
          <p:cNvSpPr/>
          <p:nvPr/>
        </p:nvSpPr>
        <p:spPr>
          <a:xfrm>
            <a:off x="5775840" y="3525120"/>
            <a:ext cx="2193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Входна снимка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2"/>
          <p:cNvSpPr/>
          <p:nvPr/>
        </p:nvSpPr>
        <p:spPr>
          <a:xfrm>
            <a:off x="8061840" y="3525120"/>
            <a:ext cx="2193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Анализирана област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4" name="Image 2" descr="Inference output"/>
          <p:cNvPicPr/>
          <p:nvPr/>
        </p:nvPicPr>
        <p:blipFill>
          <a:blip r:embed="rId3"/>
          <a:stretch/>
        </p:blipFill>
        <p:spPr>
          <a:xfrm>
            <a:off x="5775840" y="3867120"/>
            <a:ext cx="4479840" cy="9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Text 13"/>
          <p:cNvSpPr/>
          <p:nvPr/>
        </p:nvSpPr>
        <p:spPr>
          <a:xfrm>
            <a:off x="5775840" y="4924080"/>
            <a:ext cx="4479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Резултат от модела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4"/>
          <p:cNvSpPr/>
          <p:nvPr/>
        </p:nvSpPr>
        <p:spPr>
          <a:xfrm>
            <a:off x="5775840" y="5235120"/>
            <a:ext cx="4479840" cy="502200"/>
          </a:xfrm>
          <a:prstGeom prst="roundRect">
            <a:avLst>
              <a:gd name="adj" fmla="val 18182"/>
            </a:avLst>
          </a:prstGeom>
          <a:solidFill>
            <a:srgbClr val="FFC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97.7%</a:t>
            </a:r>
            <a:r>
              <a:rPr lang="bg-BG" sz="3200" b="1" u="none" strike="noStrik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 празно небе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2060"/>
            </a:gs>
            <a:gs pos="67000">
              <a:srgbClr val="002060"/>
            </a:gs>
            <a:gs pos="100000">
              <a:srgbClr val="1A678E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Freeform: Shape 4"/>
          <p:cNvSpPr/>
          <p:nvPr/>
        </p:nvSpPr>
        <p:spPr>
          <a:xfrm flipH="1" flipV="1">
            <a:off x="-720" y="0"/>
            <a:ext cx="12191400" cy="6857280"/>
          </a:xfrm>
          <a:custGeom>
            <a:avLst/>
            <a:gdLst>
              <a:gd name="textAreaLeft" fmla="*/ 360 w 12191400"/>
              <a:gd name="textAreaRight" fmla="*/ 12192480 w 12191400"/>
              <a:gd name="textAreaTop" fmla="*/ -360 h 6857280"/>
              <a:gd name="textAreaBottom" fmla="*/ 6857640 h 6857280"/>
              <a:gd name="GluePoint1X" fmla="*/ 0 w 12192000"/>
              <a:gd name="GluePoint1Y" fmla="*/ 6858000 h 6858000"/>
              <a:gd name="GluePoint2X" fmla="*/ 12192000 w 12192000"/>
              <a:gd name="GluePoint2Y" fmla="*/ 6858000 h 6858000"/>
              <a:gd name="GluePoint3X" fmla="*/ 12192000 w 12192000"/>
              <a:gd name="GluePoint3Y" fmla="*/ 0 h 6858000"/>
              <a:gd name="GluePoint4X" fmla="*/ 0 w 12192000"/>
              <a:gd name="GluePoint4Y" fmla="*/ 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2192000" h="6858000">
                <a:moveTo>
                  <a:pt x="0" y="6858000"/>
                </a:moveTo>
                <a:lnTo>
                  <a:pt x="12192000" y="6858000"/>
                </a:lnTo>
                <a:lnTo>
                  <a:pt x="12192000" y="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2060"/>
              </a:gs>
              <a:gs pos="25000">
                <a:srgbClr val="002060"/>
              </a:gs>
              <a:gs pos="100000">
                <a:srgbClr val="1A678E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1587960" y="8413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bg-BG" sz="4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Вътрешни процеси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3"/>
          <p:cNvSpPr/>
          <p:nvPr/>
        </p:nvSpPr>
        <p:spPr>
          <a:xfrm>
            <a:off x="1935360" y="2258640"/>
            <a:ext cx="127440" cy="147600"/>
          </a:xfrm>
          <a:prstGeom prst="ellipse">
            <a:avLst/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720" tIns="45000" rIns="63720" bIns="45000" anchor="t">
            <a:noAutofit/>
          </a:bodyPr>
          <a:p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4"/>
          <p:cNvSpPr/>
          <p:nvPr/>
        </p:nvSpPr>
        <p:spPr>
          <a:xfrm>
            <a:off x="2209680" y="2148840"/>
            <a:ext cx="338256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Размер на входа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Снимката се свива до 384×384 пиксела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5"/>
          <p:cNvSpPr/>
          <p:nvPr/>
        </p:nvSpPr>
        <p:spPr>
          <a:xfrm>
            <a:off x="1935360" y="3099960"/>
            <a:ext cx="127440" cy="147600"/>
          </a:xfrm>
          <a:prstGeom prst="ellipse">
            <a:avLst/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720" tIns="45000" rIns="63720" bIns="45000" anchor="t">
            <a:noAutofit/>
          </a:bodyPr>
          <a:p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2209680" y="2990160"/>
            <a:ext cx="338256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Дообучен модел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U-Net + трансформър енкодер, обучен с ImageNet и дообучен върху 818 снимки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7"/>
          <p:cNvSpPr/>
          <p:nvPr/>
        </p:nvSpPr>
        <p:spPr>
          <a:xfrm>
            <a:off x="1935360" y="3940920"/>
            <a:ext cx="127440" cy="147600"/>
          </a:xfrm>
          <a:prstGeom prst="ellipse">
            <a:avLst/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720" tIns="45000" rIns="63720" bIns="45000" anchor="t">
            <a:noAutofit/>
          </a:bodyPr>
          <a:p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8"/>
          <p:cNvSpPr/>
          <p:nvPr/>
        </p:nvSpPr>
        <p:spPr>
          <a:xfrm>
            <a:off x="2209680" y="3831480"/>
            <a:ext cx="338256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Как определя облаците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Слънцето се маскира; за останалото мрежата дава вероятност за облак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9"/>
          <p:cNvSpPr/>
          <p:nvPr/>
        </p:nvSpPr>
        <p:spPr>
          <a:xfrm>
            <a:off x="1935360" y="4782240"/>
            <a:ext cx="127440" cy="147600"/>
          </a:xfrm>
          <a:prstGeom prst="ellipse">
            <a:avLst/>
          </a:prstGeom>
          <a:solidFill>
            <a:srgbClr val="F4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720" tIns="45000" rIns="63720" bIns="45000" anchor="t">
            <a:noAutofit/>
          </a:bodyPr>
          <a:p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10"/>
          <p:cNvSpPr/>
          <p:nvPr/>
        </p:nvSpPr>
        <p:spPr>
          <a:xfrm>
            <a:off x="2209680" y="4672440"/>
            <a:ext cx="338256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Optuna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2">
                    <a:lumMod val="20000"/>
                    <a:lumOff val="80000"/>
                  </a:schemeClr>
                </a:solidFill>
                <a:effectLst/>
                <a:uFillTx/>
                <a:latin typeface="Calibri"/>
                <a:ea typeface="Calibri"/>
              </a:rPr>
              <a:t>Сам търси най-добрите хиперпараметри: 30 опита, IoU 0.853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age 0" descr="Optuna tuning log"/>
          <p:cNvPicPr/>
          <p:nvPr/>
        </p:nvPicPr>
        <p:blipFill>
          <a:blip r:embed="rId1"/>
          <a:stretch/>
        </p:blipFill>
        <p:spPr>
          <a:xfrm>
            <a:off x="5775840" y="2103120"/>
            <a:ext cx="4479840" cy="222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Shape 12"/>
          <p:cNvSpPr/>
          <p:nvPr/>
        </p:nvSpPr>
        <p:spPr>
          <a:xfrm>
            <a:off x="5775840" y="4453200"/>
            <a:ext cx="2193840" cy="91368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13"/>
          <p:cNvSpPr/>
          <p:nvPr/>
        </p:nvSpPr>
        <p:spPr>
          <a:xfrm>
            <a:off x="5775840" y="4453200"/>
            <a:ext cx="21938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4B400"/>
                </a:solidFill>
                <a:effectLst/>
                <a:uFillTx/>
                <a:latin typeface="Calibri"/>
                <a:ea typeface="Calibri"/>
              </a:rPr>
              <a:t>0.853</a:t>
            </a:r>
            <a:endParaRPr lang="en-GB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най-добър IoU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4"/>
          <p:cNvSpPr/>
          <p:nvPr/>
        </p:nvSpPr>
        <p:spPr>
          <a:xfrm>
            <a:off x="8061840" y="4453200"/>
            <a:ext cx="2193840" cy="91368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8061840" y="4453200"/>
            <a:ext cx="21938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4B400"/>
                </a:solidFill>
                <a:effectLst/>
                <a:uFillTx/>
                <a:latin typeface="Calibri"/>
                <a:ea typeface="Calibri"/>
              </a:rPr>
              <a:t>0.474</a:t>
            </a:r>
            <a:endParaRPr lang="en-GB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оптимален праг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2060"/>
            </a:gs>
            <a:gs pos="67000">
              <a:srgbClr val="002060"/>
            </a:gs>
            <a:gs pos="100000">
              <a:srgbClr val="1A678E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Freeform: Shape 4"/>
          <p:cNvSpPr/>
          <p:nvPr/>
        </p:nvSpPr>
        <p:spPr>
          <a:xfrm flipH="1" flipV="1">
            <a:off x="-720" y="0"/>
            <a:ext cx="12191400" cy="6857280"/>
          </a:xfrm>
          <a:custGeom>
            <a:avLst/>
            <a:gdLst>
              <a:gd name="textAreaLeft" fmla="*/ 360 w 12191400"/>
              <a:gd name="textAreaRight" fmla="*/ 12192480 w 12191400"/>
              <a:gd name="textAreaTop" fmla="*/ -360 h 6857280"/>
              <a:gd name="textAreaBottom" fmla="*/ 6857640 h 6857280"/>
              <a:gd name="GluePoint1X" fmla="*/ 0 w 12192000"/>
              <a:gd name="GluePoint1Y" fmla="*/ 6858000 h 6858000"/>
              <a:gd name="GluePoint2X" fmla="*/ 12192000 w 12192000"/>
              <a:gd name="GluePoint2Y" fmla="*/ 6858000 h 6858000"/>
              <a:gd name="GluePoint3X" fmla="*/ 12192000 w 12192000"/>
              <a:gd name="GluePoint3Y" fmla="*/ 0 h 6858000"/>
              <a:gd name="GluePoint4X" fmla="*/ 0 w 12192000"/>
              <a:gd name="GluePoint4Y" fmla="*/ 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2192000" h="6858000">
                <a:moveTo>
                  <a:pt x="0" y="6858000"/>
                </a:moveTo>
                <a:lnTo>
                  <a:pt x="12192000" y="6858000"/>
                </a:lnTo>
                <a:lnTo>
                  <a:pt x="12192000" y="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2060"/>
              </a:gs>
              <a:gs pos="25000">
                <a:srgbClr val="002060"/>
              </a:gs>
              <a:gs pos="100000">
                <a:srgbClr val="1A678E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 0"/>
          <p:cNvSpPr/>
          <p:nvPr/>
        </p:nvSpPr>
        <p:spPr>
          <a:xfrm>
            <a:off x="1038600" y="823680"/>
            <a:ext cx="82288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Какво използва</a:t>
            </a:r>
            <a:r>
              <a:rPr lang="bg-BG" sz="4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хме</a:t>
            </a: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и защо C++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ool 1 circle"/>
          <p:cNvSpPr/>
          <p:nvPr/>
        </p:nvSpPr>
        <p:spPr>
          <a:xfrm>
            <a:off x="1468080" y="2292840"/>
            <a:ext cx="502200" cy="502200"/>
          </a:xfrm>
          <a:prstGeom prst="ellipse">
            <a:avLst/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ool 1 label"/>
          <p:cNvSpPr/>
          <p:nvPr/>
        </p:nvSpPr>
        <p:spPr>
          <a:xfrm>
            <a:off x="1468080" y="22928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ool 1 name"/>
          <p:cNvSpPr/>
          <p:nvPr/>
        </p:nvSpPr>
        <p:spPr>
          <a:xfrm>
            <a:off x="2108160" y="22748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C++17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ool 1 text"/>
          <p:cNvSpPr/>
          <p:nvPr/>
        </p:nvSpPr>
        <p:spPr>
          <a:xfrm>
            <a:off x="2108160" y="254916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uFillTx/>
                <a:latin typeface="Calibri"/>
              </a:rPr>
              <a:t>ядрото с всички формули за слънцето и мощността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ool 2 circle"/>
          <p:cNvSpPr/>
          <p:nvPr/>
        </p:nvSpPr>
        <p:spPr>
          <a:xfrm>
            <a:off x="1468080" y="3006360"/>
            <a:ext cx="502200" cy="502200"/>
          </a:xfrm>
          <a:prstGeom prst="ellipse">
            <a:avLst/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ool 2 label"/>
          <p:cNvSpPr/>
          <p:nvPr/>
        </p:nvSpPr>
        <p:spPr>
          <a:xfrm>
            <a:off x="1468080" y="300636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Py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ool 2 name"/>
          <p:cNvSpPr/>
          <p:nvPr/>
        </p:nvSpPr>
        <p:spPr>
          <a:xfrm>
            <a:off x="2108160" y="298800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Python + ctypes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ool 2 text"/>
          <p:cNvSpPr/>
          <p:nvPr/>
        </p:nvSpPr>
        <p:spPr>
          <a:xfrm>
            <a:off x="2108160" y="326232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uFillTx/>
                <a:latin typeface="Calibri"/>
              </a:rPr>
              <a:t>свързва C++ ядрото със сайта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ool 3 circle"/>
          <p:cNvSpPr/>
          <p:nvPr/>
        </p:nvSpPr>
        <p:spPr>
          <a:xfrm>
            <a:off x="1468080" y="3719520"/>
            <a:ext cx="502200" cy="502200"/>
          </a:xfrm>
          <a:prstGeom prst="ellipse">
            <a:avLst/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ool 3 label"/>
          <p:cNvSpPr/>
          <p:nvPr/>
        </p:nvSpPr>
        <p:spPr>
          <a:xfrm>
            <a:off x="1468080" y="371952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OM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ool 3 name"/>
          <p:cNvSpPr/>
          <p:nvPr/>
        </p:nvSpPr>
        <p:spPr>
          <a:xfrm>
            <a:off x="2108160" y="370116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Open-Meteo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ool 3 text"/>
          <p:cNvSpPr/>
          <p:nvPr/>
        </p:nvSpPr>
        <p:spPr>
          <a:xfrm>
            <a:off x="2108160" y="397548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uFillTx/>
                <a:latin typeface="Calibri"/>
              </a:rPr>
              <a:t>прогноза за слънцето, температурата и облаците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ool 4 circle"/>
          <p:cNvSpPr/>
          <p:nvPr/>
        </p:nvSpPr>
        <p:spPr>
          <a:xfrm>
            <a:off x="1468080" y="4432680"/>
            <a:ext cx="502200" cy="502200"/>
          </a:xfrm>
          <a:prstGeom prst="ellipse">
            <a:avLst/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ool 4 label"/>
          <p:cNvSpPr/>
          <p:nvPr/>
        </p:nvSpPr>
        <p:spPr>
          <a:xfrm>
            <a:off x="1468080" y="44326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pv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ool 4 name"/>
          <p:cNvSpPr/>
          <p:nvPr/>
        </p:nvSpPr>
        <p:spPr>
          <a:xfrm>
            <a:off x="2108160" y="441432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pvlib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ool 4 text"/>
          <p:cNvSpPr/>
          <p:nvPr/>
        </p:nvSpPr>
        <p:spPr>
          <a:xfrm>
            <a:off x="2108160" y="46886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uFillTx/>
                <a:latin typeface="Calibri"/>
              </a:rPr>
              <a:t>научна библиотека, с която проверих резултатите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ool 5 circle"/>
          <p:cNvSpPr/>
          <p:nvPr/>
        </p:nvSpPr>
        <p:spPr>
          <a:xfrm>
            <a:off x="1468080" y="5145840"/>
            <a:ext cx="502200" cy="502200"/>
          </a:xfrm>
          <a:prstGeom prst="ellipse">
            <a:avLst/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ool 5 label"/>
          <p:cNvSpPr/>
          <p:nvPr/>
        </p:nvSpPr>
        <p:spPr>
          <a:xfrm>
            <a:off x="1468080" y="514584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VS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ool 5 name"/>
          <p:cNvSpPr/>
          <p:nvPr/>
        </p:nvSpPr>
        <p:spPr>
          <a:xfrm>
            <a:off x="2108160" y="512748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Visual Studio + pytest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ool 5 text"/>
          <p:cNvSpPr/>
          <p:nvPr/>
        </p:nvSpPr>
        <p:spPr>
          <a:xfrm>
            <a:off x="2108160" y="540180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uFillTx/>
                <a:latin typeface="Calibri"/>
              </a:rPr>
              <a:t>компилиране и автоматични тестове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peed card"/>
          <p:cNvSpPr/>
          <p:nvPr/>
        </p:nvSpPr>
        <p:spPr>
          <a:xfrm>
            <a:off x="7476120" y="2370960"/>
            <a:ext cx="3565440" cy="3183840"/>
          </a:xfrm>
          <a:prstGeom prst="roundRect">
            <a:avLst>
              <a:gd name="adj" fmla="val 3200"/>
            </a:avLst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" name="speed head"/>
          <p:cNvSpPr/>
          <p:nvPr/>
        </p:nvSpPr>
        <p:spPr>
          <a:xfrm>
            <a:off x="7704720" y="2547000"/>
            <a:ext cx="3108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C++ смята по-бързо</a:t>
            </a:r>
            <a:endParaRPr lang="en-GB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peed stat 1"/>
          <p:cNvSpPr/>
          <p:nvPr/>
        </p:nvSpPr>
        <p:spPr>
          <a:xfrm>
            <a:off x="7704720" y="2965320"/>
            <a:ext cx="310824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~50×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peed stat 1 label"/>
          <p:cNvSpPr/>
          <p:nvPr/>
        </p:nvSpPr>
        <p:spPr>
          <a:xfrm>
            <a:off x="7704720" y="3651120"/>
            <a:ext cx="3108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по-бързо смята къде е слънцето за всеки час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peed stat 2"/>
          <p:cNvSpPr/>
          <p:nvPr/>
        </p:nvSpPr>
        <p:spPr>
          <a:xfrm>
            <a:off x="7704720" y="4154040"/>
            <a:ext cx="310824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~5×</a:t>
            </a:r>
            <a:endParaRPr lang="en-GB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peed stat 2 label"/>
          <p:cNvSpPr/>
          <p:nvPr/>
        </p:nvSpPr>
        <p:spPr>
          <a:xfrm>
            <a:off x="7704720" y="4878720"/>
            <a:ext cx="310824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по-бързо търси най-добрия наклон: 0,10 s вместо 0,51 s за 6 млн. сметки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2060"/>
            </a:gs>
            <a:gs pos="67000">
              <a:srgbClr val="002060"/>
            </a:gs>
            <a:gs pos="100000">
              <a:srgbClr val="1A678E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Freeform: Shape 4"/>
          <p:cNvSpPr/>
          <p:nvPr/>
        </p:nvSpPr>
        <p:spPr>
          <a:xfrm flipH="1" flipV="1">
            <a:off x="-720" y="0"/>
            <a:ext cx="12191400" cy="6857280"/>
          </a:xfrm>
          <a:custGeom>
            <a:avLst/>
            <a:gdLst>
              <a:gd name="textAreaLeft" fmla="*/ 360 w 12191400"/>
              <a:gd name="textAreaRight" fmla="*/ 12192480 w 12191400"/>
              <a:gd name="textAreaTop" fmla="*/ -360 h 6857280"/>
              <a:gd name="textAreaBottom" fmla="*/ 6857640 h 6857280"/>
              <a:gd name="GluePoint1X" fmla="*/ 0 w 12192000"/>
              <a:gd name="GluePoint1Y" fmla="*/ 6858000 h 6858000"/>
              <a:gd name="GluePoint2X" fmla="*/ 12192000 w 12192000"/>
              <a:gd name="GluePoint2Y" fmla="*/ 6858000 h 6858000"/>
              <a:gd name="GluePoint3X" fmla="*/ 12192000 w 12192000"/>
              <a:gd name="GluePoint3Y" fmla="*/ 0 h 6858000"/>
              <a:gd name="GluePoint4X" fmla="*/ 0 w 12192000"/>
              <a:gd name="GluePoint4Y" fmla="*/ 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2192000" h="6858000">
                <a:moveTo>
                  <a:pt x="0" y="6858000"/>
                </a:moveTo>
                <a:lnTo>
                  <a:pt x="12192000" y="6858000"/>
                </a:lnTo>
                <a:lnTo>
                  <a:pt x="12192000" y="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2060"/>
              </a:gs>
              <a:gs pos="25000">
                <a:srgbClr val="002060"/>
              </a:gs>
              <a:gs pos="100000">
                <a:srgbClr val="1A678E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Text 0"/>
          <p:cNvSpPr/>
          <p:nvPr/>
        </p:nvSpPr>
        <p:spPr>
          <a:xfrm>
            <a:off x="1981080" y="78624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Какво направих</a:t>
            </a:r>
            <a:r>
              <a:rPr lang="bg-BG" sz="4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ме</a:t>
            </a: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и защо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item 1 card"/>
          <p:cNvSpPr/>
          <p:nvPr/>
        </p:nvSpPr>
        <p:spPr>
          <a:xfrm>
            <a:off x="1981080" y="1938600"/>
            <a:ext cx="5622840" cy="77652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E7E6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" name="item 1 circle"/>
          <p:cNvSpPr/>
          <p:nvPr/>
        </p:nvSpPr>
        <p:spPr>
          <a:xfrm>
            <a:off x="2090880" y="2030040"/>
            <a:ext cx="328320" cy="328320"/>
          </a:xfrm>
          <a:prstGeom prst="ellipse">
            <a:avLst/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item 1 label"/>
          <p:cNvSpPr/>
          <p:nvPr/>
        </p:nvSpPr>
        <p:spPr>
          <a:xfrm>
            <a:off x="2090880" y="2030040"/>
            <a:ext cx="328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libri"/>
              </a:rPr>
              <a:t>1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item 1 title"/>
          <p:cNvSpPr/>
          <p:nvPr/>
        </p:nvSpPr>
        <p:spPr>
          <a:xfrm>
            <a:off x="2529720" y="1984320"/>
            <a:ext cx="49370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Позиция на слънцето и светлина върху панела 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item 1 text"/>
          <p:cNvSpPr/>
          <p:nvPr/>
        </p:nvSpPr>
        <p:spPr>
          <a:xfrm>
            <a:off x="2529720" y="2212920"/>
            <a:ext cx="4937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Прогнозата за времето дава светлината върху хоризонтална земя. Панелът обаче е наклонен (например 35°) и обърнат в някаква посока. Затова смятам къде е слънцето за всеки час и колко светлина пада точно върху панела.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item 2 card"/>
          <p:cNvSpPr/>
          <p:nvPr/>
        </p:nvSpPr>
        <p:spPr>
          <a:xfrm>
            <a:off x="1981080" y="2761560"/>
            <a:ext cx="5622840" cy="77652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E7E6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item 2 circle"/>
          <p:cNvSpPr/>
          <p:nvPr/>
        </p:nvSpPr>
        <p:spPr>
          <a:xfrm>
            <a:off x="2090880" y="2853000"/>
            <a:ext cx="328320" cy="328320"/>
          </a:xfrm>
          <a:prstGeom prst="ellipse">
            <a:avLst/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item 2 label"/>
          <p:cNvSpPr/>
          <p:nvPr/>
        </p:nvSpPr>
        <p:spPr>
          <a:xfrm>
            <a:off x="2090880" y="2853000"/>
            <a:ext cx="328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libri"/>
              </a:rPr>
              <a:t>2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item 2 title"/>
          <p:cNvSpPr/>
          <p:nvPr/>
        </p:nvSpPr>
        <p:spPr>
          <a:xfrm>
            <a:off x="2529720" y="2807280"/>
            <a:ext cx="49370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Температура и мощност на панела 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item 2 text"/>
          <p:cNvSpPr/>
          <p:nvPr/>
        </p:nvSpPr>
        <p:spPr>
          <a:xfrm>
            <a:off x="2529720" y="3035880"/>
            <a:ext cx="4937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На слънце панелът се загрява, а горещият панел дава по-малко ток (−0,4% за всеки градус над 25 °C). Смятам температурата на панела, колко мощност произвежда и колко ток излиза след инвертора.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item 3 card"/>
          <p:cNvSpPr/>
          <p:nvPr/>
        </p:nvSpPr>
        <p:spPr>
          <a:xfrm>
            <a:off x="1981080" y="3584520"/>
            <a:ext cx="8228880" cy="77652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E7E6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" name="item 3 circle"/>
          <p:cNvSpPr/>
          <p:nvPr/>
        </p:nvSpPr>
        <p:spPr>
          <a:xfrm>
            <a:off x="2090880" y="3675960"/>
            <a:ext cx="328320" cy="328320"/>
          </a:xfrm>
          <a:prstGeom prst="ellipse">
            <a:avLst/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" name="item 3 label"/>
          <p:cNvSpPr/>
          <p:nvPr/>
        </p:nvSpPr>
        <p:spPr>
          <a:xfrm>
            <a:off x="2090880" y="3675960"/>
            <a:ext cx="328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libri"/>
              </a:rPr>
              <a:t>3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item 3 title"/>
          <p:cNvSpPr/>
          <p:nvPr/>
        </p:nvSpPr>
        <p:spPr>
          <a:xfrm>
            <a:off x="2529720" y="3630240"/>
            <a:ext cx="49370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Резервен план при липса на данни 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item 3 text"/>
          <p:cNvSpPr/>
          <p:nvPr/>
        </p:nvSpPr>
        <p:spPr>
          <a:xfrm>
            <a:off x="2529720" y="3858840"/>
            <a:ext cx="4937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Понякога прогнозата няма данни за светлината, а само за облаците. Тогава смятам светлината при ясно небе и колко от нея спират облаците, за да има прогноза винаги.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item 3 box"/>
          <p:cNvSpPr/>
          <p:nvPr/>
        </p:nvSpPr>
        <p:spPr>
          <a:xfrm>
            <a:off x="7604640" y="3657600"/>
            <a:ext cx="2486520" cy="630360"/>
          </a:xfrm>
          <a:prstGeom prst="roundRect">
            <a:avLst>
              <a:gd name="adj" fmla="val 11594"/>
            </a:avLst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" name="item 3 fact"/>
          <p:cNvSpPr/>
          <p:nvPr/>
        </p:nvSpPr>
        <p:spPr>
          <a:xfrm>
            <a:off x="7696080" y="3675960"/>
            <a:ext cx="230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libri"/>
              </a:rPr>
              <a:t>ясно небе → облаци → светлина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item 4 card"/>
          <p:cNvSpPr/>
          <p:nvPr/>
        </p:nvSpPr>
        <p:spPr>
          <a:xfrm>
            <a:off x="1981080" y="4407480"/>
            <a:ext cx="8228880" cy="77652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E7E6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item 4 circle"/>
          <p:cNvSpPr/>
          <p:nvPr/>
        </p:nvSpPr>
        <p:spPr>
          <a:xfrm>
            <a:off x="2090880" y="4498920"/>
            <a:ext cx="328320" cy="328320"/>
          </a:xfrm>
          <a:prstGeom prst="ellipse">
            <a:avLst/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item 4 label"/>
          <p:cNvSpPr/>
          <p:nvPr/>
        </p:nvSpPr>
        <p:spPr>
          <a:xfrm>
            <a:off x="2090880" y="4498920"/>
            <a:ext cx="328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libri"/>
              </a:rPr>
              <a:t>4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item 4 title"/>
          <p:cNvSpPr/>
          <p:nvPr/>
        </p:nvSpPr>
        <p:spPr>
          <a:xfrm>
            <a:off x="2529720" y="4453200"/>
            <a:ext cx="49370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Най-добър наклон и посока на панелите 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item 4 text"/>
          <p:cNvSpPr/>
          <p:nvPr/>
        </p:nvSpPr>
        <p:spPr>
          <a:xfrm>
            <a:off x="2529720" y="4681800"/>
            <a:ext cx="4937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Много хора не знаят дали панелите им са обърнати правилно. Пробвам всички наклони и посоки за цялата година и ако има поне 5% повече ток, сайтът дава съвет как да ги обърнеш.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item 4 box"/>
          <p:cNvSpPr/>
          <p:nvPr/>
        </p:nvSpPr>
        <p:spPr>
          <a:xfrm>
            <a:off x="7604640" y="4480560"/>
            <a:ext cx="2486520" cy="630360"/>
          </a:xfrm>
          <a:prstGeom prst="roundRect">
            <a:avLst>
              <a:gd name="adj" fmla="val 11594"/>
            </a:avLst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item 4 fact"/>
          <p:cNvSpPr/>
          <p:nvPr/>
        </p:nvSpPr>
        <p:spPr>
          <a:xfrm>
            <a:off x="7696080" y="4498920"/>
            <a:ext cx="230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libri"/>
              </a:rPr>
              <a:t>За София най-добре е 35° на юг.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item 5 card"/>
          <p:cNvSpPr/>
          <p:nvPr/>
        </p:nvSpPr>
        <p:spPr>
          <a:xfrm>
            <a:off x="1981080" y="5230440"/>
            <a:ext cx="8228880" cy="77652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E7E6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" name="item 5 circle"/>
          <p:cNvSpPr/>
          <p:nvPr/>
        </p:nvSpPr>
        <p:spPr>
          <a:xfrm>
            <a:off x="2090880" y="5321880"/>
            <a:ext cx="328320" cy="328320"/>
          </a:xfrm>
          <a:prstGeom prst="ellipse">
            <a:avLst/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" name="item 5 label"/>
          <p:cNvSpPr/>
          <p:nvPr/>
        </p:nvSpPr>
        <p:spPr>
          <a:xfrm>
            <a:off x="2090880" y="5321880"/>
            <a:ext cx="328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libri"/>
              </a:rPr>
              <a:t>5</a:t>
            </a:r>
            <a:endParaRPr lang="en-GB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item 5 title"/>
          <p:cNvSpPr/>
          <p:nvPr/>
        </p:nvSpPr>
        <p:spPr>
          <a:xfrm>
            <a:off x="2529720" y="5276160"/>
            <a:ext cx="49370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Проверка колко точна е прогнозата 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item 5 text"/>
          <p:cNvSpPr/>
          <p:nvPr/>
        </p:nvSpPr>
        <p:spPr>
          <a:xfrm>
            <a:off x="2529720" y="5504760"/>
            <a:ext cx="4937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За да докажем, че моделът е верен, сравнявам прогнозата с ясно небе и с простото предположение „утре е като днес“ и смятам грешката (RMSE, MAE, Skill).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item 5 box"/>
          <p:cNvSpPr/>
          <p:nvPr/>
        </p:nvSpPr>
        <p:spPr>
          <a:xfrm>
            <a:off x="7604640" y="5303520"/>
            <a:ext cx="2486520" cy="630360"/>
          </a:xfrm>
          <a:prstGeom prst="roundRect">
            <a:avLst>
              <a:gd name="adj" fmla="val 11594"/>
            </a:avLst>
          </a:prstGeom>
          <a:solidFill>
            <a:srgbClr val="FFC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item 5 fact"/>
          <p:cNvSpPr/>
          <p:nvPr/>
        </p:nvSpPr>
        <p:spPr>
          <a:xfrm>
            <a:off x="7696080" y="5321880"/>
            <a:ext cx="23036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Calibri"/>
              </a:rPr>
              <a:t>RMSE · MAE · Skill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002060"/>
            </a:gs>
            <a:gs pos="67000">
              <a:srgbClr val="002060"/>
            </a:gs>
            <a:gs pos="100000">
              <a:srgbClr val="1A678E"/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Freeform: Shape 4"/>
          <p:cNvSpPr/>
          <p:nvPr/>
        </p:nvSpPr>
        <p:spPr>
          <a:xfrm flipH="1" flipV="1">
            <a:off x="-720" y="0"/>
            <a:ext cx="12191400" cy="6857280"/>
          </a:xfrm>
          <a:custGeom>
            <a:avLst/>
            <a:gdLst>
              <a:gd name="textAreaLeft" fmla="*/ 360 w 12191400"/>
              <a:gd name="textAreaRight" fmla="*/ 12192480 w 12191400"/>
              <a:gd name="textAreaTop" fmla="*/ -360 h 6857280"/>
              <a:gd name="textAreaBottom" fmla="*/ 6857640 h 6857280"/>
              <a:gd name="GluePoint1X" fmla="*/ 0 w 12192000"/>
              <a:gd name="GluePoint1Y" fmla="*/ 6858000 h 6858000"/>
              <a:gd name="GluePoint2X" fmla="*/ 12192000 w 12192000"/>
              <a:gd name="GluePoint2Y" fmla="*/ 6858000 h 6858000"/>
              <a:gd name="GluePoint3X" fmla="*/ 12192000 w 12192000"/>
              <a:gd name="GluePoint3Y" fmla="*/ 0 h 6858000"/>
              <a:gd name="GluePoint4X" fmla="*/ 0 w 12192000"/>
              <a:gd name="GluePoint4Y" fmla="*/ 0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12192000" h="6858000">
                <a:moveTo>
                  <a:pt x="0" y="6858000"/>
                </a:moveTo>
                <a:lnTo>
                  <a:pt x="12192000" y="6858000"/>
                </a:lnTo>
                <a:lnTo>
                  <a:pt x="12192000" y="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2060"/>
              </a:gs>
              <a:gs pos="25000">
                <a:srgbClr val="002060"/>
              </a:gs>
              <a:gs pos="100000">
                <a:srgbClr val="1A678E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1"/>
          <p:cNvSpPr/>
          <p:nvPr/>
        </p:nvSpPr>
        <p:spPr>
          <a:xfrm>
            <a:off x="-73080" y="3246120"/>
            <a:ext cx="1226448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bg-BG" sz="4400" b="1" u="none" strike="noStrike">
                <a:solidFill>
                  <a:srgbClr val="FFC000"/>
                </a:solidFill>
                <a:effectLst/>
                <a:uFillTx/>
                <a:latin typeface="Artifakt Element Heavy"/>
                <a:ea typeface="Artifakt Element Heavy"/>
              </a:rPr>
              <a:t>БЛАГОТВОРИМ ЗА ОТДЕЛЕНОТО ВРЕМЕ</a:t>
            </a:r>
            <a:endParaRPr lang="en-GB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u"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</TotalTime>
  <Application>LibreOffice/26.2.6.3$Linux_X86_64 LibreOffice_project/620$Build-3</Application>
  <AppVersion>15.0000</AppVersion>
  <Words>801</Words>
  <Paragraphs>113</Paragraphs>
  <Company>Grizli777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2026-10-04T06:32:23Z</dcterms:created>
  <dc:creator>Pokemo Biker</dc:creator>
  <dc:description/>
  <dc:language>en-GB</dc:language>
  <cp:lastModifiedBy/>
  <dcterms:modified xsi:type="dcterms:W3CDTF">2026-10-04T12:36:30Z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1</vt:i4>
  </property>
  <property fmtid="{D5CDD505-2E9C-101B-9397-08002B2CF9AE}" pid="3" name="Notes">
    <vt:i4>1</vt:i4>
  </property>
  <property fmtid="{D5CDD505-2E9C-101B-9397-08002B2CF9AE}" pid="4" name="PresentationFormat">
    <vt:lpwstr>Widescreen</vt:lpwstr>
  </property>
  <property fmtid="{D5CDD505-2E9C-101B-9397-08002B2CF9AE}" pid="5" name="Slides">
    <vt:i4>11</vt:i4>
  </property>
</Properties>
</file>